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f76e4a161d54ea7" /><Relationship Type="http://schemas.openxmlformats.org/officeDocument/2006/relationships/extended-properties" Target="/docProps/app.xml" Id="R59e0cbd6f28b46da" /><Relationship Type="http://schemas.openxmlformats.org/officeDocument/2006/relationships/officeDocument" Target="/ppt/presentation.xml" Id="R5708ef26062b413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6499e322cb24b54"/>
  </p:sldMasterIdLst>
  <p:notesMasterIdLst>
    <p:notesMasterId xmlns:r="http://schemas.openxmlformats.org/officeDocument/2006/relationships" r:id="Re514ab48f2e847b6"/>
  </p:notesMasterIdLst>
  <p:sldIdLst>
    <p:sldId xmlns:r="http://schemas.openxmlformats.org/officeDocument/2006/relationships" id="256" r:id="R2f2822a53e1641f7"/>
    <p:sldId xmlns:r="http://schemas.openxmlformats.org/officeDocument/2006/relationships" id="257" r:id="R0588ab1294ce4512"/>
    <p:sldId xmlns:r="http://schemas.openxmlformats.org/officeDocument/2006/relationships" id="258" r:id="R6779cbd13a0c40c7"/>
    <p:sldId xmlns:r="http://schemas.openxmlformats.org/officeDocument/2006/relationships" id="259" r:id="R6cdf85c533fc410c"/>
    <p:sldId xmlns:r="http://schemas.openxmlformats.org/officeDocument/2006/relationships" id="260" r:id="R8ddf9a6acda349d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ec6a2c47853407b" /><Relationship Type="http://schemas.openxmlformats.org/officeDocument/2006/relationships/slideMaster" Target="/ppt/slideMasters/slideMaster1.xml" Id="Rb6499e322cb24b54" /><Relationship Type="http://schemas.openxmlformats.org/officeDocument/2006/relationships/notesMaster" Target="/ppt/notesMasters/notesMaster1.xml" Id="Re514ab48f2e847b6" /><Relationship Type="http://schemas.openxmlformats.org/officeDocument/2006/relationships/presProps" Target="/ppt/presProps.xml" Id="R912fbc0da3ee483e" /><Relationship Type="http://schemas.openxmlformats.org/officeDocument/2006/relationships/tableStyles" Target="/ppt/tableStyles.xml" Id="R0c851f30488f4b37" /><Relationship Type="http://schemas.openxmlformats.org/officeDocument/2006/relationships/slide" Target="/ppt/slides/slide1.xml" Id="R2f2822a53e1641f7" /><Relationship Type="http://schemas.openxmlformats.org/officeDocument/2006/relationships/slide" Target="/ppt/slides/slide2.xml" Id="R0588ab1294ce4512" /><Relationship Type="http://schemas.openxmlformats.org/officeDocument/2006/relationships/slide" Target="/ppt/slides/slide3.xml" Id="R6779cbd13a0c40c7" /><Relationship Type="http://schemas.openxmlformats.org/officeDocument/2006/relationships/slide" Target="/ppt/slides/slide4.xml" Id="R6cdf85c533fc410c" /><Relationship Type="http://schemas.openxmlformats.org/officeDocument/2006/relationships/slide" Target="/ppt/slides/slide5.xml" Id="R8ddf9a6acda349d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1f3c0667989404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14ca1441f1b44c4" /><Relationship Type="http://schemas.openxmlformats.org/officeDocument/2006/relationships/notesMaster" Target="/ppt/notesMasters/notesMaster1.xml" Id="R25ee62e8ed90406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e910d915e2a4682" /><Relationship Type="http://schemas.openxmlformats.org/officeDocument/2006/relationships/notesMaster" Target="/ppt/notesMasters/notesMaster1.xml" Id="R525ead810e014f3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be7b3a722eb4dc7" /><Relationship Type="http://schemas.openxmlformats.org/officeDocument/2006/relationships/notesMaster" Target="/ppt/notesMasters/notesMaster1.xml" Id="R349d666bf6d544d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3c8b146325f4421" /><Relationship Type="http://schemas.openxmlformats.org/officeDocument/2006/relationships/notesMaster" Target="/ppt/notesMasters/notesMaster1.xml" Id="R1a3760e24d5941d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d3e1739cbb04aaf" /><Relationship Type="http://schemas.openxmlformats.org/officeDocument/2006/relationships/notesMaster" Target="/ppt/notesMasters/notesMaster1.xml" Id="Rcc38ba8731e44f9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8b1b536af5413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a69d2ba2bc454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7f07fb5377423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a1d7cf1e194db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b9e1974085471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5b3f0a4e5a4ec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19B7FA5-CD8E-486F-A02A-B2A19D9CD4E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683484F-C2B2-4E26-9646-94611B46478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4785C68-EC06-445B-8FB5-4D09CE7C529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84F0DE4-DF45-4928-A35D-EBEA7B4D01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8F3B0AA-4B92-49F9-84EF-44F35856A4D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8B5C9DC-4397-4E3F-AA07-780817DC29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9BBED52-B096-46DA-A86D-AD132CA2433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C1C8FFBE-B572-4C8D-B380-DB4006F0E72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49FF770-A7B3-4B67-9CB7-B45E1D37507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8BA685A-D9C6-4504-985D-0F7D56F611D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041acbe31bb4268" /><Relationship Type="http://schemas.openxmlformats.org/officeDocument/2006/relationships/slideLayout" Target="/ppt/slideLayouts/slideLayout1.xml" Id="R76dfcb92fc774555" /><Relationship Type="http://schemas.openxmlformats.org/officeDocument/2006/relationships/slideLayout" Target="/ppt/slideLayouts/slideLayout2.xml" Id="R0d9f1d370ca44b96" /><Relationship Type="http://schemas.openxmlformats.org/officeDocument/2006/relationships/slideLayout" Target="/ppt/slideLayouts/slideLayout3.xml" Id="R533373000c1b4508" /><Relationship Type="http://schemas.openxmlformats.org/officeDocument/2006/relationships/slideLayout" Target="/ppt/slideLayouts/slideLayout4.xml" Id="R232328a8d7ee4839" /><Relationship Type="http://schemas.openxmlformats.org/officeDocument/2006/relationships/slideLayout" Target="/ppt/slideLayouts/slideLayout5.xml" Id="R6f84606337e1418f" /><Relationship Type="http://schemas.openxmlformats.org/officeDocument/2006/relationships/slideLayout" Target="/ppt/slideLayouts/slideLayout6.xml" Id="Rb5dd7c9d189a4cb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6dfcb92fc774555"/>
    <p:sldLayoutId xmlns:r="http://schemas.openxmlformats.org/officeDocument/2006/relationships" id="2147483650" r:id="R0d9f1d370ca44b96"/>
    <p:sldLayoutId xmlns:r="http://schemas.openxmlformats.org/officeDocument/2006/relationships" id="2147483651" r:id="R533373000c1b4508"/>
    <p:sldLayoutId xmlns:r="http://schemas.openxmlformats.org/officeDocument/2006/relationships" id="2147483652" r:id="R232328a8d7ee4839"/>
    <p:sldLayoutId xmlns:r="http://schemas.openxmlformats.org/officeDocument/2006/relationships" id="2147483653" r:id="R6f84606337e1418f"/>
    <p:sldLayoutId xmlns:r="http://schemas.openxmlformats.org/officeDocument/2006/relationships" id="2147483654" r:id="Rb5dd7c9d189a4cb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b724ec306749fc" /><Relationship Type="http://schemas.openxmlformats.org/officeDocument/2006/relationships/notesSlide" Target="/ppt/notesSlides/notesSlide1.xml" Id="R2a75f7525bdc4f1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e0944cfdcd46f1" /><Relationship Type="http://schemas.openxmlformats.org/officeDocument/2006/relationships/notesSlide" Target="/ppt/notesSlides/notesSlide2.xml" Id="Rce6e9dea1f184eb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29ee54e3914062" /><Relationship Type="http://schemas.openxmlformats.org/officeDocument/2006/relationships/notesSlide" Target="/ppt/notesSlides/notesSlide3.xml" Id="R71a027e353034ae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a9ce1ea9ec4bae" /><Relationship Type="http://schemas.openxmlformats.org/officeDocument/2006/relationships/notesSlide" Target="/ppt/notesSlides/notesSlide4.xml" Id="R6dc9f5ee89914f3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e30ff5719554774" /><Relationship Type="http://schemas.openxmlformats.org/officeDocument/2006/relationships/notesSlide" Target="/ppt/notesSlides/notesSlide5.xml" Id="R1ea8bdbd286c454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30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3AB6EF-F68F-48A5-9253-70CE4F672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287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60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buNone/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Automatización de pruebas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E7E0EE-2AC5-4B66-A589-E4A550908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33625"/>
            <a:ext cx="1000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950" b="0">
                <a:solidFill>
                  <a:srgbClr val="B9D9EA"/>
                </a:solidFill>
              </a:defRPr>
            </a:defPPr>
          </a:lstStyle>
          <a:p xmlns:a="http://schemas.openxmlformats.org/drawingml/2006/main">
            <a:pPr>
              <a:buNone/>
              <a:defRPr sz="1950" b="0">
                <a:solidFill>
                  <a:srgbClr val="B9D9EA"/>
                </a:solidFill>
              </a:defRPr>
            </a:pPr>
            <a:r>
              <a:rPr sz="1950" b="0">
                <a:solidFill>
                  <a:srgbClr val="B9D9EA"/>
                </a:solidFill>
              </a:rPr>
              <a:t>Doctor Patient Portal con Cypress y Docker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70D82B-2A3C-41EC-A38C-785238241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3850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buNone/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Plan de pruebas · Historias y casos · Ejecución · Organización Git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D32375-180C-4C1E-97CC-769003ADE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D7E8F2"/>
                </a:solidFill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D7E8F2"/>
                </a:solidFill>
              </a:defRPr>
            </a:pPr>
            <a:r>
              <a:rPr sz="1200" b="0">
                <a:solidFill>
                  <a:srgbClr val="D7E8F2"/>
                </a:solidFill>
              </a:rPr>
              <a:t>Noemy Molina Garron  |  Wendy Ramirez Veizaga  |  Natalia Romero Cuqui  |  Alex Joshua Villegas Ibanez</a:t>
            </a:r>
          </a:p>
        </p:txBody>
      </p:sp>
    </p:spTree>
    <p:extLst>
      <p:ext uri="{BB962C8B-B14F-4D97-AF65-F5344CB8AC3E}">
        <p14:creationId xmlns:p14="http://schemas.microsoft.com/office/powerpoint/2010/main" val="177551136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7A6D41-7014-4E7F-AA6C-046E342AF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1050" b="1">
                <a:solidFill>
                  <a:srgbClr val="1D6A96"/>
                </a:solidFill>
              </a:defRPr>
            </a:pPr>
            <a:r>
              <a:rPr sz="1050" b="1">
                <a:solidFill>
                  <a:srgbClr val="1D6A96"/>
                </a:solidFill>
              </a:rPr>
              <a:t>DOCTOR PATIENT PORTAL  /  AUTOMATIZACIÓN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098F79-6E97-4860-AD2D-21A3A18BE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700" b="1">
                <a:solidFill>
                  <a:srgbClr val="12304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2304A"/>
                </a:solidFill>
              </a:defRPr>
            </a:pPr>
            <a:r>
              <a:rPr sz="2700" b="1">
                <a:solidFill>
                  <a:srgbClr val="12304A"/>
                </a:solidFill>
              </a:rPr>
              <a:t>Objetivo y entorno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68701A-98E0-4DF8-AC28-44012ACA7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0">
                <a:solidFill>
                  <a:srgbClr val="526777"/>
                </a:solidFill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26777"/>
                </a:solidFill>
              </a:defRPr>
            </a:pPr>
            <a:r>
              <a:rPr sz="1425" b="0">
                <a:solidFill>
                  <a:srgbClr val="526777"/>
                </a:solidFill>
              </a:rPr>
              <a:t>Reproducir los flujos principales con un entorno de prueba compartido.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8B46C3-C849-44CB-99AF-B09112A3F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777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777"/>
                </a:solidFill>
              </a:defRPr>
            </a:pPr>
            <a:r>
              <a:rPr sz="900" b="0">
                <a:solidFill>
                  <a:srgbClr val="526777"/>
                </a:solidFill>
              </a:rPr>
              <a:t>SQA  ·  Equipo Noemy, Wendy, Natalia y Alex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FA9C82-3A1B-4AE4-B588-83DA9AF70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1650" b="1">
                <a:solidFill>
                  <a:srgbClr val="1D6A96"/>
                </a:solidFill>
              </a:defRPr>
            </a:pPr>
            <a:r>
              <a:rPr sz="1650" b="1">
                <a:solidFill>
                  <a:srgbClr val="1D6A96"/>
                </a:solidFill>
              </a:rPr>
              <a:t>Aplicación web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A25E81-D4A3-4307-B141-7BD9A7F22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6225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75" b="0">
                <a:solidFill>
                  <a:srgbClr val="172B3A"/>
                </a:solidFill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172B3A"/>
                </a:solidFill>
              </a:defRPr>
            </a:pPr>
            <a:r>
              <a:rPr sz="1575" b="0">
                <a:solidFill>
                  <a:srgbClr val="172B3A"/>
                </a:solidFill>
              </a:rPr>
              <a:t>Java / JSP en Tomcat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E70088-6A78-4F81-961D-9F037674C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33362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1650" b="1">
                <a:solidFill>
                  <a:srgbClr val="1D6A96"/>
                </a:solidFill>
              </a:defRPr>
            </a:pPr>
            <a:r>
              <a:rPr sz="1650" b="1">
                <a:solidFill>
                  <a:srgbClr val="1D6A96"/>
                </a:solidFill>
              </a:rPr>
              <a:t>Base de datos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F5974B-72F6-4361-8458-EC895D75E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76225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75" b="0">
                <a:solidFill>
                  <a:srgbClr val="172B3A"/>
                </a:solidFill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172B3A"/>
                </a:solidFill>
              </a:defRPr>
            </a:pPr>
            <a:r>
              <a:rPr sz="1575" b="0">
                <a:solidFill>
                  <a:srgbClr val="172B3A"/>
                </a:solidFill>
              </a:rPr>
              <a:t>MySQL en Docker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42325F-2DF3-4904-A2AC-DC620B2CC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33362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1650" b="1">
                <a:solidFill>
                  <a:srgbClr val="1D6A96"/>
                </a:solidFill>
              </a:defRPr>
            </a:pPr>
            <a:r>
              <a:rPr sz="1650" b="1">
                <a:solidFill>
                  <a:srgbClr val="1D6A96"/>
                </a:solidFill>
              </a:rPr>
              <a:t>Automatización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DFD400-24FA-49CC-9830-6640EEA7F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7622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75" b="0">
                <a:solidFill>
                  <a:srgbClr val="172B3A"/>
                </a:solidFill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172B3A"/>
                </a:solidFill>
              </a:defRPr>
            </a:pPr>
            <a:r>
              <a:rPr sz="1575" b="0">
                <a:solidFill>
                  <a:srgbClr val="172B3A"/>
                </a:solidFill>
              </a:rPr>
              <a:t>Cypress local en VS Code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C20728-24F3-4371-85F9-6D4DAC071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2304A"/>
                </a:solidFill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12304A"/>
                </a:solidFill>
              </a:defRPr>
            </a:pPr>
            <a:r>
              <a:rPr sz="1800" b="1">
                <a:solidFill>
                  <a:srgbClr val="12304A"/>
                </a:solidFill>
              </a:rPr>
              <a:t>Cronograma: entorno Docker/MySQL 12/10 · organización de tareas 14/10 · seguimiento y revisión 15–18/10 · presentación 19/10.</a:t>
            </a:r>
          </a:p>
        </p:txBody>
      </p:sp>
    </p:spTree>
    <p:extLst>
      <p:ext uri="{BB962C8B-B14F-4D97-AF65-F5344CB8AC3E}">
        <p14:creationId xmlns:p14="http://schemas.microsoft.com/office/powerpoint/2010/main" val="100625686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C791DD-4297-4709-8E0B-EB2FE2EA9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1050" b="1">
                <a:solidFill>
                  <a:srgbClr val="1D6A96"/>
                </a:solidFill>
              </a:defRPr>
            </a:pPr>
            <a:r>
              <a:rPr sz="1050" b="1">
                <a:solidFill>
                  <a:srgbClr val="1D6A96"/>
                </a:solidFill>
              </a:rPr>
              <a:t>DOCTOR PATIENT PORTAL  /  AUTOMATIZACIÓN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AB753E-CBFD-4E25-BCED-8BDA553E3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700" b="1">
                <a:solidFill>
                  <a:srgbClr val="12304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2304A"/>
                </a:solidFill>
              </a:defRPr>
            </a:pPr>
            <a:r>
              <a:rPr sz="2700" b="1">
                <a:solidFill>
                  <a:srgbClr val="12304A"/>
                </a:solidFill>
              </a:rPr>
              <a:t>Cobertura de pruebas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E01529-AFA2-456F-8DD2-E109E4DEB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0">
                <a:solidFill>
                  <a:srgbClr val="526777"/>
                </a:solidFill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26777"/>
                </a:solidFill>
              </a:defRPr>
            </a:pPr>
            <a:r>
              <a:rPr sz="1425" b="0">
                <a:solidFill>
                  <a:srgbClr val="526777"/>
                </a:solidFill>
              </a:rPr>
              <a:t>22 casos automatizados para los flujos disponibles; CP-23 documenta la brecha de alta de administrador.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CB876A-C808-4A4C-96BE-FADB51DD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777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777"/>
                </a:solidFill>
              </a:defRPr>
            </a:pPr>
            <a:r>
              <a:rPr sz="900" b="0">
                <a:solidFill>
                  <a:srgbClr val="526777"/>
                </a:solidFill>
              </a:rPr>
              <a:t>SQA  ·  Equipo Noemy, Wendy, Natalia y Alex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A07298-00AF-46FA-8FA2-A0D16E8E0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1D6A96"/>
                </a:solidFill>
              </a:defRPr>
            </a:pPr>
            <a:r>
              <a:rPr sz="1800" b="1">
                <a:solidFill>
                  <a:srgbClr val="1D6A96"/>
                </a:solidFill>
              </a:rPr>
              <a:t>Administración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98B9D1-EA4B-43AF-8B35-84D517F9D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4667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75" b="0">
                <a:solidFill>
                  <a:srgbClr val="172B3A"/>
                </a:solidFill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172B3A"/>
                </a:solidFill>
              </a:defRPr>
            </a:pPr>
            <a:r>
              <a:rPr sz="1575" b="0">
                <a:solidFill>
                  <a:srgbClr val="172B3A"/>
                </a:solidFill>
              </a:rPr>
              <a:t>Login · especialidad · alta/edición/listado/eliminación de doctores · citas globales · logout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88E31F-00B4-4EAD-A74C-4C26A641E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38375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1D6A96"/>
                </a:solidFill>
              </a:defRPr>
            </a:pPr>
            <a:r>
              <a:rPr sz="1800" b="1">
                <a:solidFill>
                  <a:srgbClr val="1D6A96"/>
                </a:solidFill>
              </a:rPr>
              <a:t>Paciente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5E1EAA-4941-4159-938C-DB26E9193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86050"/>
            <a:ext cx="5238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75" b="0">
                <a:solidFill>
                  <a:srgbClr val="172B3A"/>
                </a:solidFill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172B3A"/>
                </a:solidFill>
              </a:defRPr>
            </a:pPr>
            <a:r>
              <a:rPr sz="1575" b="0">
                <a:solidFill>
                  <a:srgbClr val="172B3A"/>
                </a:solidFill>
              </a:rPr>
              <a:t>Registro · login · solicitar/consultar cita · cambiar contraseña · logout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6E9F02-1BEE-4096-B2C9-44987E76A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1D6A96"/>
                </a:solidFill>
              </a:defRPr>
            </a:pPr>
            <a:r>
              <a:rPr sz="1800" b="1">
                <a:solidFill>
                  <a:srgbClr val="1D6A96"/>
                </a:solidFill>
              </a:rPr>
              <a:t>Doctor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3BE652-90B9-4890-AEC1-D973AC5C3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48175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75" b="0">
                <a:solidFill>
                  <a:srgbClr val="172B3A"/>
                </a:solidFill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172B3A"/>
                </a:solidFill>
              </a:defRPr>
            </a:pPr>
            <a:r>
              <a:rPr sz="1575" b="0">
                <a:solidFill>
                  <a:srgbClr val="172B3A"/>
                </a:solidFill>
              </a:rPr>
              <a:t>Login · dashboard · pacientes/tratamientos · perfil/clave · logout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E5D3CD-0E15-4879-94FF-029C11A9E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381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1D6A96"/>
                </a:solidFill>
              </a:defRPr>
            </a:pPr>
            <a:r>
              <a:rPr sz="1800" b="1">
                <a:solidFill>
                  <a:srgbClr val="1D6A96"/>
                </a:solidFill>
              </a:rPr>
              <a:t>Brecha detectada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CA2ED1-3069-4C7C-B14E-53C01E5F1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48175"/>
            <a:ext cx="514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172B3A"/>
                </a:solidFill>
              </a:defRPr>
            </a:defPPr>
          </a:lstStyle>
          <a:p xmlns:a="http://schemas.openxmlformats.org/drawingml/2006/main">
            <a:pPr>
              <a:buNone/>
              <a:defRPr sz="1500" b="0">
                <a:solidFill>
                  <a:srgbClr val="172B3A"/>
                </a:solidFill>
              </a:defRPr>
            </a:pPr>
            <a:r>
              <a:rPr sz="1500" b="0">
                <a:solidFill>
                  <a:srgbClr val="172B3A"/>
                </a:solidFill>
              </a:rPr>
              <a:t>Esta versión del portal no ofrece alta de administradores. CP-23 identifica y describe esta brecha funcional.</a:t>
            </a:r>
          </a:p>
        </p:txBody>
      </p:sp>
    </p:spTree>
    <p:extLst>
      <p:ext uri="{BB962C8B-B14F-4D97-AF65-F5344CB8AC3E}">
        <p14:creationId xmlns:p14="http://schemas.microsoft.com/office/powerpoint/2010/main" val="36473486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3035A6-6124-4417-942E-ABC55ABB2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1050" b="1">
                <a:solidFill>
                  <a:srgbClr val="1D6A96"/>
                </a:solidFill>
              </a:defRPr>
            </a:pPr>
            <a:r>
              <a:rPr sz="1050" b="1">
                <a:solidFill>
                  <a:srgbClr val="1D6A96"/>
                </a:solidFill>
              </a:rPr>
              <a:t>DOCTOR PATIENT PORTAL  /  AUTOMATIZACIÓN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589B5E-FE8F-47E7-ADF0-F49A0505F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700" b="1">
                <a:solidFill>
                  <a:srgbClr val="12304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2304A"/>
                </a:solidFill>
              </a:defRPr>
            </a:pPr>
            <a:r>
              <a:rPr sz="2700" b="1">
                <a:solidFill>
                  <a:srgbClr val="12304A"/>
                </a:solidFill>
              </a:rPr>
              <a:t>Ejecución y evidencia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12C3A6-912A-4DBF-9D4A-46F85A2F0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0">
                <a:solidFill>
                  <a:srgbClr val="526777"/>
                </a:solidFill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26777"/>
                </a:solidFill>
              </a:defRPr>
            </a:pPr>
            <a:r>
              <a:rPr sz="1425" b="0">
                <a:solidFill>
                  <a:srgbClr val="526777"/>
                </a:solidFill>
              </a:rPr>
              <a:t>La suite separa los flujos de visitante, administración, paciente y doctor.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AB8B8B-D92A-4D35-B81D-6EEB44730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777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777"/>
                </a:solidFill>
              </a:defRPr>
            </a:pPr>
            <a:r>
              <a:rPr sz="900" b="0">
                <a:solidFill>
                  <a:srgbClr val="526777"/>
                </a:solidFill>
              </a:rPr>
              <a:t>SQA  ·  Equipo Noemy, Wendy, Natalia y Alex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4C0ADA-E944-4C64-958B-D1932F06A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33625"/>
            <a:ext cx="66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3150" b="1">
                <a:solidFill>
                  <a:srgbClr val="1D6A96"/>
                </a:solidFill>
              </a:defRPr>
            </a:pPr>
            <a:r>
              <a:rPr sz="3150" b="1">
                <a:solidFill>
                  <a:srgbClr val="1D6A96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5C6079-3EDB-433A-85AC-3C2571BEB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428875"/>
            <a:ext cx="3714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75" b="1">
                <a:solidFill>
                  <a:srgbClr val="12304A"/>
                </a:solidFill>
              </a:defRPr>
            </a:defPPr>
          </a:lstStyle>
          <a:p xmlns:a="http://schemas.openxmlformats.org/drawingml/2006/main">
            <a:pPr>
              <a:buNone/>
              <a:defRPr sz="1875" b="1">
                <a:solidFill>
                  <a:srgbClr val="12304A"/>
                </a:solidFill>
              </a:defRPr>
            </a:pPr>
            <a:r>
              <a:rPr sz="1875" b="1">
                <a:solidFill>
                  <a:srgbClr val="12304A"/>
                </a:solidFill>
              </a:rPr>
              <a:t>Entorno Docker y MySQL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7672A5-D04C-4906-B2C0-633E12FFF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66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3150" b="1">
                <a:solidFill>
                  <a:srgbClr val="1D6A96"/>
                </a:solidFill>
              </a:defRPr>
            </a:pPr>
            <a:r>
              <a:rPr sz="3150" b="1">
                <a:solidFill>
                  <a:srgbClr val="1D6A96"/>
                </a:solidFill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73C478-F25F-4F73-A13E-613D29130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42900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75" b="1">
                <a:solidFill>
                  <a:srgbClr val="12304A"/>
                </a:solidFill>
              </a:defRPr>
            </a:defPPr>
          </a:lstStyle>
          <a:p xmlns:a="http://schemas.openxmlformats.org/drawingml/2006/main">
            <a:pPr>
              <a:buNone/>
              <a:defRPr sz="1875" b="1">
                <a:solidFill>
                  <a:srgbClr val="12304A"/>
                </a:solidFill>
              </a:defRPr>
            </a:pPr>
            <a:r>
              <a:rPr sz="1875" b="1">
                <a:solidFill>
                  <a:srgbClr val="12304A"/>
                </a:solidFill>
              </a:rPr>
              <a:t>Suite E2E en Cypress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DCF825-6DDF-49C4-9B2E-F7B7A99C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33875"/>
            <a:ext cx="66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3150" b="1">
                <a:solidFill>
                  <a:srgbClr val="1D6A96"/>
                </a:solidFill>
              </a:defRPr>
            </a:pPr>
            <a:r>
              <a:rPr sz="3150" b="1">
                <a:solidFill>
                  <a:srgbClr val="1D6A96"/>
                </a:solidFill>
              </a:rPr>
              <a:t>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A11DE6-BA24-40DB-930D-07E61FFC9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29125"/>
            <a:ext cx="4572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75" b="1">
                <a:solidFill>
                  <a:srgbClr val="12304A"/>
                </a:solidFill>
              </a:defRPr>
            </a:defPPr>
          </a:lstStyle>
          <a:p xmlns:a="http://schemas.openxmlformats.org/drawingml/2006/main">
            <a:pPr>
              <a:buNone/>
              <a:defRPr sz="1875" b="1">
                <a:solidFill>
                  <a:srgbClr val="12304A"/>
                </a:solidFill>
              </a:defRPr>
            </a:pPr>
            <a:r>
              <a:rPr sz="1875" b="1">
                <a:solidFill>
                  <a:srgbClr val="12304A"/>
                </a:solidFill>
              </a:rPr>
              <a:t>Resultado y trazabilidad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757C5A-CA0F-4362-A8C5-A55140CEA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143250"/>
            <a:ext cx="4476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75" b="1">
                <a:solidFill>
                  <a:srgbClr val="12304A"/>
                </a:solidFill>
              </a:defRPr>
            </a:defPPr>
          </a:lstStyle>
          <a:p xmlns:a="http://schemas.openxmlformats.org/drawingml/2006/main">
            <a:pPr>
              <a:buNone/>
              <a:defRPr sz="1875" b="1">
                <a:solidFill>
                  <a:srgbClr val="12304A"/>
                </a:solidFill>
              </a:defRPr>
            </a:pPr>
            <a:r>
              <a:rPr sz="1875" b="1">
                <a:solidFill>
                  <a:srgbClr val="12304A"/>
                </a:solidFill>
              </a:rPr>
              <a:t>Ejecución local registrada · 14/10/2026</a:t>
            </a:r>
          </a:p>
          <a:p xmlns:a="http://schemas.openxmlformats.org/drawingml/2006/main">
            <a:pPr>
              <a:buNone/>
              <a:defRPr sz="1875" b="1">
                <a:solidFill>
                  <a:srgbClr val="12304A"/>
                </a:solidFill>
              </a:defRPr>
            </a:pPr>
            <a:r>
              <a:rPr sz="1875" b="1">
                <a:solidFill>
                  <a:srgbClr val="12304A"/>
                </a:solidFill>
              </a:rPr>
              <a:t>22 passing · 0 failing · 0 pending</a:t>
            </a:r>
          </a:p>
        </p:txBody>
      </p:sp>
    </p:spTree>
    <p:extLst>
      <p:ext uri="{BB962C8B-B14F-4D97-AF65-F5344CB8AC3E}">
        <p14:creationId xmlns:p14="http://schemas.microsoft.com/office/powerpoint/2010/main" val="15900825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3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14E9B7-9503-4A48-ACEC-82346E301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1050" b="1">
                <a:solidFill>
                  <a:srgbClr val="1D6A96"/>
                </a:solidFill>
              </a:defRPr>
            </a:pPr>
            <a:r>
              <a:rPr sz="1050" b="1">
                <a:solidFill>
                  <a:srgbClr val="1D6A96"/>
                </a:solidFill>
              </a:rPr>
              <a:t>DOCTOR PATIENT PORTAL  /  AUTOMATIZACIÓN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A66D62-57F6-47EC-AA0C-B4A60F5DF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700" b="1">
                <a:solidFill>
                  <a:srgbClr val="12304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2304A"/>
                </a:solidFill>
              </a:defRPr>
            </a:pPr>
            <a:r>
              <a:rPr sz="2700" b="1">
                <a:solidFill>
                  <a:srgbClr val="12304A"/>
                </a:solidFill>
              </a:rPr>
              <a:t>Scrum ligero y Git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57FF2C-3F05-4BFD-AEE8-7B6E7CDF6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0">
                <a:solidFill>
                  <a:srgbClr val="526777"/>
                </a:solidFill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26777"/>
                </a:solidFill>
              </a:defRPr>
            </a:pPr>
            <a:r>
              <a:rPr sz="1425" b="0">
                <a:solidFill>
                  <a:srgbClr val="526777"/>
                </a:solidFill>
              </a:rPr>
              <a:t>Cronograma del 14 al 19/10: planificación, seguimiento y revisión; presentación el 19/10.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B2207C-F3C4-485D-AAE3-4781B7F01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777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777"/>
                </a:solidFill>
              </a:defRPr>
            </a:pPr>
            <a:r>
              <a:rPr sz="900" b="0">
                <a:solidFill>
                  <a:srgbClr val="526777"/>
                </a:solidFill>
              </a:rPr>
              <a:t>SQA  ·  Equipo Noemy, Wendy, Natalia y Alex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CD0485-8B81-4828-B2E7-4377A0707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33625"/>
            <a:ext cx="1809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00" b="1">
                <a:solidFill>
                  <a:srgbClr val="12304A"/>
                </a:solidFill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2304A"/>
                </a:solidFill>
              </a:defRPr>
            </a:pPr>
            <a:r>
              <a:rPr sz="2100" b="1">
                <a:solidFill>
                  <a:srgbClr val="12304A"/>
                </a:solidFill>
              </a:rPr>
              <a:t>main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07A657-D222-4DAC-9238-2E9282109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352675"/>
            <a:ext cx="790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1650" b="1">
                <a:solidFill>
                  <a:srgbClr val="1D6A96"/>
                </a:solidFill>
              </a:defRPr>
            </a:pPr>
            <a:r>
              <a:rPr sz="1650" b="1">
                <a:solidFill>
                  <a:srgbClr val="1D6A96"/>
                </a:solidFill>
              </a:rPr>
              <a:t>← ramas feat/documentacion · feat/cypress · feat/casos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BC0A03-E897-4CE5-85C7-FA84834A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81375"/>
            <a:ext cx="2190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2304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2304A"/>
                </a:solidFill>
              </a:defRPr>
            </a:pPr>
            <a:r>
              <a:rPr sz="1500" b="1">
                <a:solidFill>
                  <a:srgbClr val="12304A"/>
                </a:solidFill>
              </a:rPr>
              <a:t>Wendy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D0D671-DA4F-4EB2-AA2E-B91887338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381375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172B3A"/>
                </a:solidFill>
              </a:defRPr>
            </a:defPPr>
          </a:lstStyle>
          <a:p xmlns:a="http://schemas.openxmlformats.org/drawingml/2006/main">
            <a:pPr>
              <a:buNone/>
              <a:defRPr sz="1500" b="0">
                <a:solidFill>
                  <a:srgbClr val="172B3A"/>
                </a:solidFill>
              </a:defRPr>
            </a:pPr>
            <a:r>
              <a:rPr sz="1500" b="0">
                <a:solidFill>
                  <a:srgbClr val="172B3A"/>
                </a:solidFill>
              </a:rPr>
              <a:t>Plan y casos de administración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57346D-B0EC-4EC9-BEA3-CE4F217E3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05250"/>
            <a:ext cx="2190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2304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2304A"/>
                </a:solidFill>
              </a:defRPr>
            </a:pPr>
            <a:r>
              <a:rPr sz="1500" b="1">
                <a:solidFill>
                  <a:srgbClr val="12304A"/>
                </a:solidFill>
              </a:rPr>
              <a:t>Natalia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C55CB9-251E-43B3-B75C-01DAF5354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905250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172B3A"/>
                </a:solidFill>
              </a:defRPr>
            </a:defPPr>
          </a:lstStyle>
          <a:p xmlns:a="http://schemas.openxmlformats.org/drawingml/2006/main">
            <a:pPr>
              <a:buNone/>
              <a:defRPr sz="1500" b="0">
                <a:solidFill>
                  <a:srgbClr val="172B3A"/>
                </a:solidFill>
              </a:defRPr>
            </a:pPr>
            <a:r>
              <a:rPr sz="1500" b="0">
                <a:solidFill>
                  <a:srgbClr val="172B3A"/>
                </a:solidFill>
              </a:rPr>
              <a:t>Historias y casos de paciente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CD7890-124C-436F-91B1-E8D587254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29125"/>
            <a:ext cx="2190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2304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2304A"/>
                </a:solidFill>
              </a:defRPr>
            </a:pPr>
            <a:r>
              <a:rPr sz="1500" b="1">
                <a:solidFill>
                  <a:srgbClr val="12304A"/>
                </a:solidFill>
              </a:rPr>
              <a:t>Alex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BC4E22-388B-4103-AB47-EF13702A6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429125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172B3A"/>
                </a:solidFill>
              </a:defRPr>
            </a:defPPr>
          </a:lstStyle>
          <a:p xmlns:a="http://schemas.openxmlformats.org/drawingml/2006/main">
            <a:pPr>
              <a:buNone/>
              <a:defRPr sz="1500" b="0">
                <a:solidFill>
                  <a:srgbClr val="172B3A"/>
                </a:solidFill>
              </a:defRPr>
            </a:pPr>
            <a:r>
              <a:rPr sz="1500" b="0">
                <a:solidFill>
                  <a:srgbClr val="172B3A"/>
                </a:solidFill>
              </a:rPr>
              <a:t>Casos de doctor y exposición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6726A5-37FD-455B-92D7-A5AE34E03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53000"/>
            <a:ext cx="2190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2304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2304A"/>
                </a:solidFill>
              </a:defRPr>
            </a:pPr>
            <a:r>
              <a:rPr sz="1500" b="1">
                <a:solidFill>
                  <a:srgbClr val="12304A"/>
                </a:solidFill>
              </a:rPr>
              <a:t>Noemy · SM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EF3147-2132-4703-BA6D-03F9D2B5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953000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172B3A"/>
                </a:solidFill>
              </a:defRPr>
            </a:defPPr>
          </a:lstStyle>
          <a:p xmlns:a="http://schemas.openxmlformats.org/drawingml/2006/main">
            <a:pPr>
              <a:buNone/>
              <a:defRPr sz="1500" b="0">
                <a:solidFill>
                  <a:srgbClr val="172B3A"/>
                </a:solidFill>
              </a:defRPr>
            </a:pPr>
            <a:r>
              <a:rPr sz="1500" b="0">
                <a:solidFill>
                  <a:srgbClr val="172B3A"/>
                </a:solidFill>
              </a:rPr>
              <a:t>Scrum Master · facilita reuniones y acuerdos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8DC425-147C-4B17-B6F7-6648D71A3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19750"/>
            <a:ext cx="9525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1D6A96"/>
                </a:solidFill>
              </a:defRPr>
            </a:pPr>
            <a:r>
              <a:rPr sz="1425" b="1">
                <a:solidFill>
                  <a:srgbClr val="1D6A96"/>
                </a:solidFill>
              </a:rPr>
              <a:t>Issues SQA-01–10 · tablero público → Pull Request → revisión → main</a:t>
            </a:r>
          </a:p>
        </p:txBody>
      </p:sp>
    </p:spTree>
    <p:extLst>
      <p:ext uri="{BB962C8B-B14F-4D97-AF65-F5344CB8AC3E}">
        <p14:creationId xmlns:p14="http://schemas.microsoft.com/office/powerpoint/2010/main" val="144826860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2026-10-15T02:06:46.7510000Z</dcterms:created>
  <dcterms:modified xsi:type="dcterms:W3CDTF">2026-10-15T02:06:46.7510000Z</dcterms:modified>
</coreProperties>
</file>