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57a42da6ab24125" /><Relationship Type="http://schemas.openxmlformats.org/officeDocument/2006/relationships/extended-properties" Target="/docProps/app.xml" Id="R7e5e35d0826f45f9" /><Relationship Type="http://schemas.openxmlformats.org/officeDocument/2006/relationships/officeDocument" Target="/ppt/presentation.xml" Id="Rc88c681e38b44be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fa76e75945a4c9e"/>
  </p:sldMasterIdLst>
  <p:notesMasterIdLst>
    <p:notesMasterId xmlns:r="http://schemas.openxmlformats.org/officeDocument/2006/relationships" r:id="R173ddc3426d74769"/>
  </p:notesMasterIdLst>
  <p:sldIdLst>
    <p:sldId xmlns:r="http://schemas.openxmlformats.org/officeDocument/2006/relationships" id="256" r:id="Rb706328c3884432f"/>
    <p:sldId xmlns:r="http://schemas.openxmlformats.org/officeDocument/2006/relationships" id="257" r:id="Racd5acf5894948dd"/>
    <p:sldId xmlns:r="http://schemas.openxmlformats.org/officeDocument/2006/relationships" id="258" r:id="Re47d458352b34d7e"/>
    <p:sldId xmlns:r="http://schemas.openxmlformats.org/officeDocument/2006/relationships" id="259" r:id="Rb4fe19c4297f4fdf"/>
    <p:sldId xmlns:r="http://schemas.openxmlformats.org/officeDocument/2006/relationships" id="260" r:id="Rdfc0f6162e9246e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4d49b2712bc46b9" /><Relationship Type="http://schemas.openxmlformats.org/officeDocument/2006/relationships/slideMaster" Target="/ppt/slideMasters/slideMaster1.xml" Id="R6fa76e75945a4c9e" /><Relationship Type="http://schemas.openxmlformats.org/officeDocument/2006/relationships/notesMaster" Target="/ppt/notesMasters/notesMaster1.xml" Id="R173ddc3426d74769" /><Relationship Type="http://schemas.openxmlformats.org/officeDocument/2006/relationships/presProps" Target="/ppt/presProps.xml" Id="R7b241b35f65f4723" /><Relationship Type="http://schemas.openxmlformats.org/officeDocument/2006/relationships/tableStyles" Target="/ppt/tableStyles.xml" Id="R6c34f0c03597400e" /><Relationship Type="http://schemas.openxmlformats.org/officeDocument/2006/relationships/slide" Target="/ppt/slides/slide1.xml" Id="Rb706328c3884432f" /><Relationship Type="http://schemas.openxmlformats.org/officeDocument/2006/relationships/slide" Target="/ppt/slides/slide2.xml" Id="Racd5acf5894948dd" /><Relationship Type="http://schemas.openxmlformats.org/officeDocument/2006/relationships/slide" Target="/ppt/slides/slide3.xml" Id="Re47d458352b34d7e" /><Relationship Type="http://schemas.openxmlformats.org/officeDocument/2006/relationships/slide" Target="/ppt/slides/slide4.xml" Id="Rb4fe19c4297f4fdf" /><Relationship Type="http://schemas.openxmlformats.org/officeDocument/2006/relationships/slide" Target="/ppt/slides/slide5.xml" Id="Rdfc0f6162e9246e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9ffe3b81ae340d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c9c55d8af0f4144" /><Relationship Type="http://schemas.openxmlformats.org/officeDocument/2006/relationships/notesMaster" Target="/ppt/notesMasters/notesMaster1.xml" Id="Rd9ecce2e87924ea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ee1099b5d7e49c6" /><Relationship Type="http://schemas.openxmlformats.org/officeDocument/2006/relationships/notesMaster" Target="/ppt/notesMasters/notesMaster1.xml" Id="Rdf5a36ec4c00439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820310bbe114c97" /><Relationship Type="http://schemas.openxmlformats.org/officeDocument/2006/relationships/notesMaster" Target="/ppt/notesMasters/notesMaster1.xml" Id="R018da058a549481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6218e310b1b442f" /><Relationship Type="http://schemas.openxmlformats.org/officeDocument/2006/relationships/notesMaster" Target="/ppt/notesMasters/notesMaster1.xml" Id="R3bbf54fd45be405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6449286600b4788" /><Relationship Type="http://schemas.openxmlformats.org/officeDocument/2006/relationships/notesMaster" Target="/ppt/notesMasters/notesMaster1.xml" Id="Rae58afe8b0824db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8de685c94f4ad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cd8597ddc7486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5abad0b1e44c2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728958e2344ac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fe1b79817b460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b06febb4524bb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19B7FA5-CD8E-486F-A02A-B2A19D9CD4E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6683484F-C2B2-4E26-9646-94611B46478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B4785C68-EC06-445B-8FB5-4D09CE7C529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84F0DE4-DF45-4928-A35D-EBEA7B4D01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8F3B0AA-4B92-49F9-84EF-44F35856A4D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8B5C9DC-4397-4E3F-AA07-780817DC29F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9BBED52-B096-46DA-A86D-AD132CA2433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C1C8FFBE-B572-4C8D-B380-DB4006F0E72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49FF770-A7B3-4B67-9CB7-B45E1D37507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8BA685A-D9C6-4504-985D-0F7D56F611D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31ee35de4764482" /><Relationship Type="http://schemas.openxmlformats.org/officeDocument/2006/relationships/slideLayout" Target="/ppt/slideLayouts/slideLayout1.xml" Id="Rf6b326c0d07e4933" /><Relationship Type="http://schemas.openxmlformats.org/officeDocument/2006/relationships/slideLayout" Target="/ppt/slideLayouts/slideLayout2.xml" Id="Rc38c23105dc34593" /><Relationship Type="http://schemas.openxmlformats.org/officeDocument/2006/relationships/slideLayout" Target="/ppt/slideLayouts/slideLayout3.xml" Id="Rc5935b1877b646ba" /><Relationship Type="http://schemas.openxmlformats.org/officeDocument/2006/relationships/slideLayout" Target="/ppt/slideLayouts/slideLayout4.xml" Id="R1e409eca82ce464e" /><Relationship Type="http://schemas.openxmlformats.org/officeDocument/2006/relationships/slideLayout" Target="/ppt/slideLayouts/slideLayout5.xml" Id="R13cca8fddeaf4434" /><Relationship Type="http://schemas.openxmlformats.org/officeDocument/2006/relationships/slideLayout" Target="/ppt/slideLayouts/slideLayout6.xml" Id="Rb1c20ab800b54df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6b326c0d07e4933"/>
    <p:sldLayoutId xmlns:r="http://schemas.openxmlformats.org/officeDocument/2006/relationships" id="2147483650" r:id="Rc38c23105dc34593"/>
    <p:sldLayoutId xmlns:r="http://schemas.openxmlformats.org/officeDocument/2006/relationships" id="2147483651" r:id="Rc5935b1877b646ba"/>
    <p:sldLayoutId xmlns:r="http://schemas.openxmlformats.org/officeDocument/2006/relationships" id="2147483652" r:id="R1e409eca82ce464e"/>
    <p:sldLayoutId xmlns:r="http://schemas.openxmlformats.org/officeDocument/2006/relationships" id="2147483653" r:id="R13cca8fddeaf4434"/>
    <p:sldLayoutId xmlns:r="http://schemas.openxmlformats.org/officeDocument/2006/relationships" id="2147483654" r:id="Rb1c20ab800b54df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79b1e2ce6534260" /><Relationship Type="http://schemas.openxmlformats.org/officeDocument/2006/relationships/notesSlide" Target="/ppt/notesSlides/notesSlide1.xml" Id="R48dca34f41fa4a3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b44efd8d1b844bc" /><Relationship Type="http://schemas.openxmlformats.org/officeDocument/2006/relationships/notesSlide" Target="/ppt/notesSlides/notesSlide2.xml" Id="Rc03c606c0f5f411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5ca39dea8084032" /><Relationship Type="http://schemas.openxmlformats.org/officeDocument/2006/relationships/notesSlide" Target="/ppt/notesSlides/notesSlide3.xml" Id="Rfb4aa3767a6b47d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9984ee9be5142f6" /><Relationship Type="http://schemas.openxmlformats.org/officeDocument/2006/relationships/notesSlide" Target="/ppt/notesSlides/notesSlide4.xml" Id="Rb45d1fc92a88402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46023298d094091" /><Relationship Type="http://schemas.openxmlformats.org/officeDocument/2006/relationships/notesSlide" Target="/ppt/notesSlides/notesSlide5.xml" Id="R6a9b574668ee4eb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230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3AB6EF-F68F-48A5-9253-70CE4F672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287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60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buNone/>
              <a:defRPr sz="3600" b="1">
                <a:solidFill>
                  <a:srgbClr val="FFFFFF"/>
                </a:solidFill>
              </a:defRPr>
            </a:pPr>
            <a:r>
              <a:rPr sz="3600" b="1">
                <a:solidFill>
                  <a:srgbClr val="FFFFFF"/>
                </a:solidFill>
              </a:rPr>
              <a:t>Automatización de pruebas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E7E0EE-2AC5-4B66-A589-E4A550908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33625"/>
            <a:ext cx="1000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950" b="0">
                <a:solidFill>
                  <a:srgbClr val="B9D9EA"/>
                </a:solidFill>
              </a:defRPr>
            </a:defPPr>
          </a:lstStyle>
          <a:p xmlns:a="http://schemas.openxmlformats.org/drawingml/2006/main">
            <a:pPr>
              <a:buNone/>
              <a:defRPr sz="1950" b="0">
                <a:solidFill>
                  <a:srgbClr val="B9D9EA"/>
                </a:solidFill>
              </a:defRPr>
            </a:pPr>
            <a:r>
              <a:rPr sz="1950" b="0">
                <a:solidFill>
                  <a:srgbClr val="B9D9EA"/>
                </a:solidFill>
              </a:rPr>
              <a:t>Doctor Patient Portal con Cypress y Docker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70D82B-2A3C-41EC-A38C-785238241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38500"/>
            <a:ext cx="952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buNone/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Plan de pruebas · Historias y casos · Ejecución · Organización Git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D32375-180C-4C1E-97CC-769003ADE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D7E8F2"/>
                </a:solidFill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D7E8F2"/>
                </a:solidFill>
              </a:defRPr>
            </a:pPr>
            <a:r>
              <a:rPr sz="1200" b="0">
                <a:solidFill>
                  <a:srgbClr val="D7E8F2"/>
                </a:solidFill>
              </a:rPr>
              <a:t>Noemy Molina Garron  |  Wendy Ramirez Veizaga  |  Natalia Romero Cuqui  |  Alex Joshua Villegas Ibanez</a:t>
            </a:r>
          </a:p>
        </p:txBody>
      </p:sp>
    </p:spTree>
    <p:extLst>
      <p:ext uri="{BB962C8B-B14F-4D97-AF65-F5344CB8AC3E}">
        <p14:creationId xmlns:p14="http://schemas.microsoft.com/office/powerpoint/2010/main" val="177551136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3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7A6D41-7014-4E7F-AA6C-046E342AF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1">
                <a:solidFill>
                  <a:srgbClr val="1D6A96"/>
                </a:solidFill>
              </a:defRPr>
            </a:defPPr>
          </a:lstStyle>
          <a:p xmlns:a="http://schemas.openxmlformats.org/drawingml/2006/main">
            <a:pPr>
              <a:buNone/>
              <a:defRPr sz="1050" b="1">
                <a:solidFill>
                  <a:srgbClr val="1D6A96"/>
                </a:solidFill>
              </a:defRPr>
            </a:pPr>
            <a:r>
              <a:rPr sz="1050" b="1">
                <a:solidFill>
                  <a:srgbClr val="1D6A96"/>
                </a:solidFill>
              </a:rPr>
              <a:t>DOCTOR PATIENT PORTAL  /  AUTOMATIZACIÓN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098F79-6E97-4860-AD2D-21A3A18BE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5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700" b="1">
                <a:solidFill>
                  <a:srgbClr val="12304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2304A"/>
                </a:solidFill>
              </a:defRPr>
            </a:pPr>
            <a:r>
              <a:rPr sz="2700" b="1">
                <a:solidFill>
                  <a:srgbClr val="12304A"/>
                </a:solidFill>
              </a:rPr>
              <a:t>Objetivo y entorno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68701A-98E0-4DF8-AC28-44012ACA7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0">
                <a:solidFill>
                  <a:srgbClr val="526777"/>
                </a:solidFill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526777"/>
                </a:solidFill>
              </a:defRPr>
            </a:pPr>
            <a:r>
              <a:rPr sz="1425" b="0">
                <a:solidFill>
                  <a:srgbClr val="526777"/>
                </a:solidFill>
              </a:rPr>
              <a:t>Reproducir los flujos principales con un entorno de prueba compartido.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8B46C3-C849-44CB-99AF-B09112A3F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47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777"/>
                </a:solidFill>
              </a:defRPr>
            </a:defPPr>
          </a:lstStyle>
          <a:p xmlns:a="http://schemas.openxmlformats.org/drawingml/2006/main">
            <a:pPr>
              <a:buNone/>
              <a:defRPr sz="900" b="0">
                <a:solidFill>
                  <a:srgbClr val="526777"/>
                </a:solidFill>
              </a:defRPr>
            </a:pPr>
            <a:r>
              <a:rPr sz="900" b="0">
                <a:solidFill>
                  <a:srgbClr val="526777"/>
                </a:solidFill>
              </a:rPr>
              <a:t>SQA  ·  Equipo Noemy, Wendy, Natalia y Alex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FA9C82-3A1B-4AE4-B588-83DA9AF70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1D6A96"/>
                </a:solidFill>
              </a:defRPr>
            </a:defPPr>
          </a:lstStyle>
          <a:p xmlns:a="http://schemas.openxmlformats.org/drawingml/2006/main">
            <a:pPr>
              <a:buNone/>
              <a:defRPr sz="1650" b="1">
                <a:solidFill>
                  <a:srgbClr val="1D6A96"/>
                </a:solidFill>
              </a:defRPr>
            </a:pPr>
            <a:r>
              <a:rPr sz="1650" b="1">
                <a:solidFill>
                  <a:srgbClr val="1D6A96"/>
                </a:solidFill>
              </a:rPr>
              <a:t>Aplicación web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A25E81-D4A3-4307-B141-7BD9A7F22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6225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75" b="0">
                <a:solidFill>
                  <a:srgbClr val="172B3A"/>
                </a:solidFill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172B3A"/>
                </a:solidFill>
              </a:defRPr>
            </a:pPr>
            <a:r>
              <a:rPr sz="1575" b="0">
                <a:solidFill>
                  <a:srgbClr val="172B3A"/>
                </a:solidFill>
              </a:rPr>
              <a:t>Java / JSP en Tomcat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E70088-6A78-4F81-961D-9F037674C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333625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1D6A96"/>
                </a:solidFill>
              </a:defRPr>
            </a:defPPr>
          </a:lstStyle>
          <a:p xmlns:a="http://schemas.openxmlformats.org/drawingml/2006/main">
            <a:pPr>
              <a:buNone/>
              <a:defRPr sz="1650" b="1">
                <a:solidFill>
                  <a:srgbClr val="1D6A96"/>
                </a:solidFill>
              </a:defRPr>
            </a:pPr>
            <a:r>
              <a:rPr sz="1650" b="1">
                <a:solidFill>
                  <a:srgbClr val="1D6A96"/>
                </a:solidFill>
              </a:rPr>
              <a:t>Base de datos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F5974B-72F6-4361-8458-EC895D75E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76225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75" b="0">
                <a:solidFill>
                  <a:srgbClr val="172B3A"/>
                </a:solidFill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172B3A"/>
                </a:solidFill>
              </a:defRPr>
            </a:pPr>
            <a:r>
              <a:rPr sz="1575" b="0">
                <a:solidFill>
                  <a:srgbClr val="172B3A"/>
                </a:solidFill>
              </a:rPr>
              <a:t>MySQL en Docker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42325F-2DF3-4904-A2AC-DC620B2CC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333625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1D6A96"/>
                </a:solidFill>
              </a:defRPr>
            </a:defPPr>
          </a:lstStyle>
          <a:p xmlns:a="http://schemas.openxmlformats.org/drawingml/2006/main">
            <a:pPr>
              <a:buNone/>
              <a:defRPr sz="1650" b="1">
                <a:solidFill>
                  <a:srgbClr val="1D6A96"/>
                </a:solidFill>
              </a:defRPr>
            </a:pPr>
            <a:r>
              <a:rPr sz="1650" b="1">
                <a:solidFill>
                  <a:srgbClr val="1D6A96"/>
                </a:solidFill>
              </a:rPr>
              <a:t>Automatización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DFD400-24FA-49CC-9830-6640EEA7F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76225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75" b="0">
                <a:solidFill>
                  <a:srgbClr val="172B3A"/>
                </a:solidFill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172B3A"/>
                </a:solidFill>
              </a:defRPr>
            </a:pPr>
            <a:r>
              <a:rPr sz="1575" b="0">
                <a:solidFill>
                  <a:srgbClr val="172B3A"/>
                </a:solidFill>
              </a:rPr>
              <a:t>Cypress local en VS Code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C20728-24F3-4371-85F9-6D4DAC071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1028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2304A"/>
                </a:solidFill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12304A"/>
                </a:solidFill>
              </a:defRPr>
            </a:pPr>
            <a:r>
              <a:rPr sz="1800" b="1">
                <a:solidFill>
                  <a:srgbClr val="12304A"/>
                </a:solidFill>
              </a:rPr>
              <a:t>Cronograma: Docker/MySQL 12/10 (realizado)</a:t>
            </a:r>
          </a:p>
          <a:p xmlns:a="http://schemas.openxmlformats.org/drawingml/2006/main">
            <a:pPr>
              <a:buNone/>
              <a:defRPr sz="1800" b="1">
                <a:solidFill>
                  <a:srgbClr val="12304A"/>
                </a:solidFill>
              </a:defRPr>
            </a:pPr>
            <a:r>
              <a:rPr sz="1800" b="1">
                <a:solidFill>
                  <a:srgbClr val="12304A"/>
                </a:solidFill>
              </a:rPr>
              <a:t>Planificación 14/10 · seguimientos 15–18/10 (planificados) · exposición 19/10.</a:t>
            </a:r>
          </a:p>
        </p:txBody>
      </p:sp>
    </p:spTree>
    <p:extLst>
      <p:ext uri="{BB962C8B-B14F-4D97-AF65-F5344CB8AC3E}">
        <p14:creationId xmlns:p14="http://schemas.microsoft.com/office/powerpoint/2010/main" val="100625686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3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C791DD-4297-4709-8E0B-EB2FE2EA9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1">
                <a:solidFill>
                  <a:srgbClr val="1D6A96"/>
                </a:solidFill>
              </a:defRPr>
            </a:defPPr>
          </a:lstStyle>
          <a:p xmlns:a="http://schemas.openxmlformats.org/drawingml/2006/main">
            <a:pPr>
              <a:buNone/>
              <a:defRPr sz="1050" b="1">
                <a:solidFill>
                  <a:srgbClr val="1D6A96"/>
                </a:solidFill>
              </a:defRPr>
            </a:pPr>
            <a:r>
              <a:rPr sz="1050" b="1">
                <a:solidFill>
                  <a:srgbClr val="1D6A96"/>
                </a:solidFill>
              </a:rPr>
              <a:t>DOCTOR PATIENT PORTAL  /  AUTOMATIZACIÓN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AB753E-CBFD-4E25-BCED-8BDA553E3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5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700" b="1">
                <a:solidFill>
                  <a:srgbClr val="12304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2304A"/>
                </a:solidFill>
              </a:defRPr>
            </a:pPr>
            <a:r>
              <a:rPr sz="2700" b="1">
                <a:solidFill>
                  <a:srgbClr val="12304A"/>
                </a:solidFill>
              </a:rPr>
              <a:t>Cobertura de pruebas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E01529-AFA2-456F-8DD2-E109E4DEB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0">
                <a:solidFill>
                  <a:srgbClr val="526777"/>
                </a:solidFill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526777"/>
                </a:solidFill>
              </a:defRPr>
            </a:pPr>
            <a:r>
              <a:rPr sz="1425" b="0">
                <a:solidFill>
                  <a:srgbClr val="526777"/>
                </a:solidFill>
              </a:rPr>
              <a:t>22 casos para las páginas funcionales; el alta de otro administrador queda como brecha.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CB876A-C808-4A4C-96BE-FADB51DD1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47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777"/>
                </a:solidFill>
              </a:defRPr>
            </a:defPPr>
          </a:lstStyle>
          <a:p xmlns:a="http://schemas.openxmlformats.org/drawingml/2006/main">
            <a:pPr>
              <a:buNone/>
              <a:defRPr sz="900" b="0">
                <a:solidFill>
                  <a:srgbClr val="526777"/>
                </a:solidFill>
              </a:defRPr>
            </a:pPr>
            <a:r>
              <a:rPr sz="900" b="0">
                <a:solidFill>
                  <a:srgbClr val="526777"/>
                </a:solidFill>
              </a:rPr>
              <a:t>SQA  ·  Equipo Noemy, Wendy, Natalia y Alex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A07298-00AF-46FA-8FA2-A0D16E8E0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323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D6A96"/>
                </a:solidFill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1D6A96"/>
                </a:solidFill>
              </a:defRPr>
            </a:pPr>
            <a:r>
              <a:rPr sz="1800" b="1">
                <a:solidFill>
                  <a:srgbClr val="1D6A96"/>
                </a:solidFill>
              </a:rPr>
              <a:t>Administración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98B9D1-EA4B-43AF-8B35-84D517F9D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86050"/>
            <a:ext cx="4667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75" b="0">
                <a:solidFill>
                  <a:srgbClr val="172B3A"/>
                </a:solidFill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172B3A"/>
                </a:solidFill>
              </a:defRPr>
            </a:pPr>
            <a:r>
              <a:rPr sz="1575" b="0">
                <a:solidFill>
                  <a:srgbClr val="172B3A"/>
                </a:solidFill>
              </a:rPr>
              <a:t>Login · especialidad · alta/edición/listado/eliminación de doctores · citas globales · logout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88E31F-00B4-4EAD-A74C-4C26A641E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38375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D6A96"/>
                </a:solidFill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1D6A96"/>
                </a:solidFill>
              </a:defRPr>
            </a:pPr>
            <a:r>
              <a:rPr sz="1800" b="1">
                <a:solidFill>
                  <a:srgbClr val="1D6A96"/>
                </a:solidFill>
              </a:rPr>
              <a:t>Paciente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5E1EAA-4941-4159-938C-DB26E9193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686050"/>
            <a:ext cx="5238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75" b="0">
                <a:solidFill>
                  <a:srgbClr val="172B3A"/>
                </a:solidFill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172B3A"/>
                </a:solidFill>
              </a:defRPr>
            </a:pPr>
            <a:r>
              <a:rPr sz="1575" b="0">
                <a:solidFill>
                  <a:srgbClr val="172B3A"/>
                </a:solidFill>
              </a:rPr>
              <a:t>Registro · login · solicitar/consultar cita · cambiar contraseña · logout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6E9F02-1BEE-4096-B2C9-44987E76A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D6A96"/>
                </a:solidFill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1D6A96"/>
                </a:solidFill>
              </a:defRPr>
            </a:pPr>
            <a:r>
              <a:rPr sz="1800" b="1">
                <a:solidFill>
                  <a:srgbClr val="1D6A96"/>
                </a:solidFill>
              </a:rPr>
              <a:t>Doctor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3BE652-90B9-4890-AEC1-D973AC5C3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48175"/>
            <a:ext cx="4953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75" b="0">
                <a:solidFill>
                  <a:srgbClr val="172B3A"/>
                </a:solidFill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172B3A"/>
                </a:solidFill>
              </a:defRPr>
            </a:pPr>
            <a:r>
              <a:rPr sz="1575" b="0">
                <a:solidFill>
                  <a:srgbClr val="172B3A"/>
                </a:solidFill>
              </a:rPr>
              <a:t>Login · dashboard · pacientes/tratamientos · perfil/clave · logout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E5D3CD-0E15-4879-94FF-029C11A9E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00500"/>
            <a:ext cx="3810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D6A96"/>
                </a:solidFill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1D6A96"/>
                </a:solidFill>
              </a:defRPr>
            </a:pPr>
            <a:r>
              <a:rPr sz="1800" b="1">
                <a:solidFill>
                  <a:srgbClr val="1D6A96"/>
                </a:solidFill>
              </a:rPr>
              <a:t>Brecha detectada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CA2ED1-3069-4C7C-B14E-53C01E5F1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448175"/>
            <a:ext cx="514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172B3A"/>
                </a:solidFill>
              </a:defRPr>
            </a:defPPr>
          </a:lstStyle>
          <a:p xmlns:a="http://schemas.openxmlformats.org/drawingml/2006/main">
            <a:pPr>
              <a:buNone/>
              <a:defRPr sz="1500" b="0">
                <a:solidFill>
                  <a:srgbClr val="172B3A"/>
                </a:solidFill>
              </a:defRPr>
            </a:pPr>
            <a:r>
              <a:rPr sz="1500" b="0">
                <a:solidFill>
                  <a:srgbClr val="172B3A"/>
                </a:solidFill>
              </a:rPr>
              <a:t>Registrar otro administrador no está disponible en esta versión; se documenta como pendiente.</a:t>
            </a:r>
          </a:p>
        </p:txBody>
      </p:sp>
    </p:spTree>
    <p:extLst>
      <p:ext uri="{BB962C8B-B14F-4D97-AF65-F5344CB8AC3E}">
        <p14:creationId xmlns:p14="http://schemas.microsoft.com/office/powerpoint/2010/main" val="36473486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3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3035A6-6124-4417-942E-ABC55ABB2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1">
                <a:solidFill>
                  <a:srgbClr val="1D6A96"/>
                </a:solidFill>
              </a:defRPr>
            </a:defPPr>
          </a:lstStyle>
          <a:p xmlns:a="http://schemas.openxmlformats.org/drawingml/2006/main">
            <a:pPr>
              <a:buNone/>
              <a:defRPr sz="1050" b="1">
                <a:solidFill>
                  <a:srgbClr val="1D6A96"/>
                </a:solidFill>
              </a:defRPr>
            </a:pPr>
            <a:r>
              <a:rPr sz="1050" b="1">
                <a:solidFill>
                  <a:srgbClr val="1D6A96"/>
                </a:solidFill>
              </a:rPr>
              <a:t>DOCTOR PATIENT PORTAL  /  AUTOMATIZACIÓN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589B5E-FE8F-47E7-ADF0-F49A0505F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5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700" b="1">
                <a:solidFill>
                  <a:srgbClr val="12304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2304A"/>
                </a:solidFill>
              </a:defRPr>
            </a:pPr>
            <a:r>
              <a:rPr sz="2700" b="1">
                <a:solidFill>
                  <a:srgbClr val="12304A"/>
                </a:solidFill>
              </a:rPr>
              <a:t>Ejecución y evidencia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12C3A6-912A-4DBF-9D4A-46F85A2F0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0">
                <a:solidFill>
                  <a:srgbClr val="526777"/>
                </a:solidFill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526777"/>
                </a:solidFill>
              </a:defRPr>
            </a:pPr>
            <a:r>
              <a:rPr sz="1425" b="0">
                <a:solidFill>
                  <a:srgbClr val="526777"/>
                </a:solidFill>
              </a:rPr>
              <a:t>La suite separa los flujos de visitante, administración, paciente y doctor.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AB8B8B-D92A-4D35-B81D-6EEB44730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47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777"/>
                </a:solidFill>
              </a:defRPr>
            </a:defPPr>
          </a:lstStyle>
          <a:p xmlns:a="http://schemas.openxmlformats.org/drawingml/2006/main">
            <a:pPr>
              <a:buNone/>
              <a:defRPr sz="900" b="0">
                <a:solidFill>
                  <a:srgbClr val="526777"/>
                </a:solidFill>
              </a:defRPr>
            </a:pPr>
            <a:r>
              <a:rPr sz="900" b="0">
                <a:solidFill>
                  <a:srgbClr val="526777"/>
                </a:solidFill>
              </a:rPr>
              <a:t>SQA  ·  Equipo Noemy, Wendy, Natalia y Alex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4C0ADA-E944-4C64-958B-D1932F06A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33625"/>
            <a:ext cx="66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150" b="1">
                <a:solidFill>
                  <a:srgbClr val="1D6A96"/>
                </a:solidFill>
              </a:defRPr>
            </a:defPPr>
          </a:lstStyle>
          <a:p xmlns:a="http://schemas.openxmlformats.org/drawingml/2006/main">
            <a:pPr>
              <a:buNone/>
              <a:defRPr sz="3150" b="1">
                <a:solidFill>
                  <a:srgbClr val="1D6A96"/>
                </a:solidFill>
              </a:defRPr>
            </a:pPr>
            <a:r>
              <a:rPr sz="3150" b="1">
                <a:solidFill>
                  <a:srgbClr val="1D6A96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5C6079-3EDB-433A-85AC-3C2571BEB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428875"/>
            <a:ext cx="3714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75" b="1">
                <a:solidFill>
                  <a:srgbClr val="12304A"/>
                </a:solidFill>
              </a:defRPr>
            </a:defPPr>
          </a:lstStyle>
          <a:p xmlns:a="http://schemas.openxmlformats.org/drawingml/2006/main">
            <a:pPr>
              <a:buNone/>
              <a:defRPr sz="1875" b="1">
                <a:solidFill>
                  <a:srgbClr val="12304A"/>
                </a:solidFill>
              </a:defRPr>
            </a:pPr>
            <a:r>
              <a:rPr sz="1875" b="1">
                <a:solidFill>
                  <a:srgbClr val="12304A"/>
                </a:solidFill>
              </a:rPr>
              <a:t>Levantar app y MySQL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7672A5-D04C-4906-B2C0-633E12FFF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33750"/>
            <a:ext cx="66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150" b="1">
                <a:solidFill>
                  <a:srgbClr val="1D6A96"/>
                </a:solidFill>
              </a:defRPr>
            </a:defPPr>
          </a:lstStyle>
          <a:p xmlns:a="http://schemas.openxmlformats.org/drawingml/2006/main">
            <a:pPr>
              <a:buNone/>
              <a:defRPr sz="3150" b="1">
                <a:solidFill>
                  <a:srgbClr val="1D6A96"/>
                </a:solidFill>
              </a:defRPr>
            </a:pPr>
            <a:r>
              <a:rPr sz="3150" b="1">
                <a:solidFill>
                  <a:srgbClr val="1D6A96"/>
                </a:solidFill>
              </a:rPr>
              <a:t>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73C478-F25F-4F73-A13E-613D29130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42900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75" b="1">
                <a:solidFill>
                  <a:srgbClr val="12304A"/>
                </a:solidFill>
              </a:defRPr>
            </a:defPPr>
          </a:lstStyle>
          <a:p xmlns:a="http://schemas.openxmlformats.org/drawingml/2006/main">
            <a:pPr>
              <a:buNone/>
              <a:defRPr sz="1875" b="1">
                <a:solidFill>
                  <a:srgbClr val="12304A"/>
                </a:solidFill>
              </a:defRPr>
            </a:pPr>
            <a:r>
              <a:rPr sz="1875" b="1">
                <a:solidFill>
                  <a:srgbClr val="12304A"/>
                </a:solidFill>
              </a:rPr>
              <a:t>Abrir Cypress en VS Code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DCF825-6DDF-49C4-9B2E-F7B7A99C1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33875"/>
            <a:ext cx="66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150" b="1">
                <a:solidFill>
                  <a:srgbClr val="1D6A96"/>
                </a:solidFill>
              </a:defRPr>
            </a:defPPr>
          </a:lstStyle>
          <a:p xmlns:a="http://schemas.openxmlformats.org/drawingml/2006/main">
            <a:pPr>
              <a:buNone/>
              <a:defRPr sz="3150" b="1">
                <a:solidFill>
                  <a:srgbClr val="1D6A96"/>
                </a:solidFill>
              </a:defRPr>
            </a:pPr>
            <a:r>
              <a:rPr sz="3150" b="1">
                <a:solidFill>
                  <a:srgbClr val="1D6A96"/>
                </a:solidFill>
              </a:rPr>
              <a:t>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A11DE6-BA24-40DB-930D-07E61FFC9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429125"/>
            <a:ext cx="4572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75" b="1">
                <a:solidFill>
                  <a:srgbClr val="12304A"/>
                </a:solidFill>
              </a:defRPr>
            </a:defPPr>
          </a:lstStyle>
          <a:p xmlns:a="http://schemas.openxmlformats.org/drawingml/2006/main">
            <a:pPr>
              <a:buNone/>
              <a:defRPr sz="1875" b="1">
                <a:solidFill>
                  <a:srgbClr val="12304A"/>
                </a:solidFill>
              </a:defRPr>
            </a:pPr>
            <a:r>
              <a:rPr sz="1875" b="1">
                <a:solidFill>
                  <a:srgbClr val="12304A"/>
                </a:solidFill>
              </a:rPr>
              <a:t>Revisar resultado y capturas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757C5A-CA0F-4362-A8C5-A55140CEA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143250"/>
            <a:ext cx="4476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75" b="1">
                <a:solidFill>
                  <a:srgbClr val="12304A"/>
                </a:solidFill>
              </a:defRPr>
            </a:defPPr>
          </a:lstStyle>
          <a:p xmlns:a="http://schemas.openxmlformats.org/drawingml/2006/main">
            <a:pPr>
              <a:buNone/>
              <a:defRPr sz="1875" b="1">
                <a:solidFill>
                  <a:srgbClr val="12304A"/>
                </a:solidFill>
              </a:defRPr>
            </a:pPr>
            <a:r>
              <a:rPr sz="1875" b="1">
                <a:solidFill>
                  <a:srgbClr val="12304A"/>
                </a:solidFill>
              </a:rPr>
              <a:t>Cypress 16.1.1 · 22 passing · 0 failing · 0 pending (14/10/2026).</a:t>
            </a:r>
          </a:p>
        </p:txBody>
      </p:sp>
    </p:spTree>
    <p:extLst>
      <p:ext uri="{BB962C8B-B14F-4D97-AF65-F5344CB8AC3E}">
        <p14:creationId xmlns:p14="http://schemas.microsoft.com/office/powerpoint/2010/main" val="159008252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3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14E9B7-9503-4A48-ACEC-82346E301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1">
                <a:solidFill>
                  <a:srgbClr val="1D6A96"/>
                </a:solidFill>
              </a:defRPr>
            </a:defPPr>
          </a:lstStyle>
          <a:p xmlns:a="http://schemas.openxmlformats.org/drawingml/2006/main">
            <a:pPr>
              <a:buNone/>
              <a:defRPr sz="1050" b="1">
                <a:solidFill>
                  <a:srgbClr val="1D6A96"/>
                </a:solidFill>
              </a:defRPr>
            </a:pPr>
            <a:r>
              <a:rPr sz="1050" b="1">
                <a:solidFill>
                  <a:srgbClr val="1D6A96"/>
                </a:solidFill>
              </a:rPr>
              <a:t>DOCTOR PATIENT PORTAL  /  AUTOMATIZACIÓN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A66D62-57F6-47EC-AA0C-B4A60F5DF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5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700" b="1">
                <a:solidFill>
                  <a:srgbClr val="12304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2304A"/>
                </a:solidFill>
              </a:defRPr>
            </a:pPr>
            <a:r>
              <a:rPr sz="2700" b="1">
                <a:solidFill>
                  <a:srgbClr val="12304A"/>
                </a:solidFill>
              </a:rPr>
              <a:t>Scrum ligero y Git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57FF2C-3F05-4BFD-AEE8-7B6E7CDF6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0">
                <a:solidFill>
                  <a:srgbClr val="526777"/>
                </a:solidFill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526777"/>
                </a:solidFill>
              </a:defRPr>
            </a:pPr>
            <a:r>
              <a:rPr sz="1425" b="0">
                <a:solidFill>
                  <a:srgbClr val="526777"/>
                </a:solidFill>
              </a:rPr>
              <a:t>Planificación 14/10 · seguimientos 15–18/10 · ensayo 18/10.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B2207C-F3C4-485D-AAE3-4781B7F01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47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777"/>
                </a:solidFill>
              </a:defRPr>
            </a:defPPr>
          </a:lstStyle>
          <a:p xmlns:a="http://schemas.openxmlformats.org/drawingml/2006/main">
            <a:pPr>
              <a:buNone/>
              <a:defRPr sz="900" b="0">
                <a:solidFill>
                  <a:srgbClr val="526777"/>
                </a:solidFill>
              </a:defRPr>
            </a:pPr>
            <a:r>
              <a:rPr sz="900" b="0">
                <a:solidFill>
                  <a:srgbClr val="526777"/>
                </a:solidFill>
              </a:rPr>
              <a:t>SQA  ·  Equipo Noemy, Wendy, Natalia y Alex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CD0485-8B81-4828-B2E7-4377A0707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333625"/>
            <a:ext cx="1809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100" b="1">
                <a:solidFill>
                  <a:srgbClr val="12304A"/>
                </a:solidFill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2304A"/>
                </a:solidFill>
              </a:defRPr>
            </a:pPr>
            <a:r>
              <a:rPr sz="2100" b="1">
                <a:solidFill>
                  <a:srgbClr val="12304A"/>
                </a:solidFill>
              </a:rPr>
              <a:t>main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07A657-D222-4DAC-9238-2E9282109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352675"/>
            <a:ext cx="790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1D6A96"/>
                </a:solidFill>
              </a:defRPr>
            </a:defPPr>
          </a:lstStyle>
          <a:p xmlns:a="http://schemas.openxmlformats.org/drawingml/2006/main">
            <a:pPr>
              <a:buNone/>
              <a:defRPr sz="1650" b="1">
                <a:solidFill>
                  <a:srgbClr val="1D6A96"/>
                </a:solidFill>
              </a:defRPr>
            </a:pPr>
            <a:r>
              <a:rPr sz="1650" b="1">
                <a:solidFill>
                  <a:srgbClr val="1D6A96"/>
                </a:solidFill>
              </a:rPr>
              <a:t>← ramas feat/documentacion · feat/cypress · feat/casos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BC0A03-E897-4CE5-85C7-FA84834AA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81375"/>
            <a:ext cx="2190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2304A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12304A"/>
                </a:solidFill>
              </a:defRPr>
            </a:pPr>
            <a:r>
              <a:rPr sz="1500" b="1">
                <a:solidFill>
                  <a:srgbClr val="12304A"/>
                </a:solidFill>
              </a:rPr>
              <a:t>Wendy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D0D671-DA4F-4EB2-AA2E-B91887338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381375"/>
            <a:ext cx="476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172B3A"/>
                </a:solidFill>
              </a:defRPr>
            </a:defPPr>
          </a:lstStyle>
          <a:p xmlns:a="http://schemas.openxmlformats.org/drawingml/2006/main">
            <a:pPr>
              <a:buNone/>
              <a:defRPr sz="1500" b="0">
                <a:solidFill>
                  <a:srgbClr val="172B3A"/>
                </a:solidFill>
              </a:defRPr>
            </a:pPr>
            <a:r>
              <a:rPr sz="1500" b="0">
                <a:solidFill>
                  <a:srgbClr val="172B3A"/>
                </a:solidFill>
              </a:rPr>
              <a:t>Plan y casos de administración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57346D-B0EC-4EC9-BEA3-CE4F217E3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05250"/>
            <a:ext cx="2190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2304A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12304A"/>
                </a:solidFill>
              </a:defRPr>
            </a:pPr>
            <a:r>
              <a:rPr sz="1500" b="1">
                <a:solidFill>
                  <a:srgbClr val="12304A"/>
                </a:solidFill>
              </a:rPr>
              <a:t>Natalia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C55CB9-251E-43B3-B75C-01DAF5354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905250"/>
            <a:ext cx="476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172B3A"/>
                </a:solidFill>
              </a:defRPr>
            </a:defPPr>
          </a:lstStyle>
          <a:p xmlns:a="http://schemas.openxmlformats.org/drawingml/2006/main">
            <a:pPr>
              <a:buNone/>
              <a:defRPr sz="1500" b="0">
                <a:solidFill>
                  <a:srgbClr val="172B3A"/>
                </a:solidFill>
              </a:defRPr>
            </a:pPr>
            <a:r>
              <a:rPr sz="1500" b="0">
                <a:solidFill>
                  <a:srgbClr val="172B3A"/>
                </a:solidFill>
              </a:rPr>
              <a:t>Historias y casos de paciente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CD7890-124C-436F-91B1-E8D587254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29125"/>
            <a:ext cx="2190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2304A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12304A"/>
                </a:solidFill>
              </a:defRPr>
            </a:pPr>
            <a:r>
              <a:rPr sz="1500" b="1">
                <a:solidFill>
                  <a:srgbClr val="12304A"/>
                </a:solidFill>
              </a:rPr>
              <a:t>Alex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BC4E22-388B-4103-AB47-EF13702A6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429125"/>
            <a:ext cx="476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172B3A"/>
                </a:solidFill>
              </a:defRPr>
            </a:defPPr>
          </a:lstStyle>
          <a:p xmlns:a="http://schemas.openxmlformats.org/drawingml/2006/main">
            <a:pPr>
              <a:buNone/>
              <a:defRPr sz="1500" b="0">
                <a:solidFill>
                  <a:srgbClr val="172B3A"/>
                </a:solidFill>
              </a:defRPr>
            </a:pPr>
            <a:r>
              <a:rPr sz="1500" b="0">
                <a:solidFill>
                  <a:srgbClr val="172B3A"/>
                </a:solidFill>
              </a:rPr>
              <a:t>Casos de doctor y exposición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6726A5-37FD-455B-92D7-A5AE34E03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53000"/>
            <a:ext cx="2190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2304A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12304A"/>
                </a:solidFill>
              </a:defRPr>
            </a:pPr>
            <a:r>
              <a:rPr sz="1500" b="1">
                <a:solidFill>
                  <a:srgbClr val="12304A"/>
                </a:solidFill>
              </a:rPr>
              <a:t>Noemy · SM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EF3147-2132-4703-BA6D-03F9D2B5F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953000"/>
            <a:ext cx="476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172B3A"/>
                </a:solidFill>
              </a:defRPr>
            </a:defPPr>
          </a:lstStyle>
          <a:p xmlns:a="http://schemas.openxmlformats.org/drawingml/2006/main">
            <a:pPr>
              <a:buNone/>
              <a:defRPr sz="1500" b="0">
                <a:solidFill>
                  <a:srgbClr val="172B3A"/>
                </a:solidFill>
              </a:defRPr>
            </a:pPr>
            <a:r>
              <a:rPr sz="1500" b="0">
                <a:solidFill>
                  <a:srgbClr val="172B3A"/>
                </a:solidFill>
              </a:rPr>
              <a:t>Scrum Master · facilita reuniones y acuerdos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8DC425-147C-4B17-B6F7-6648D71A3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619750"/>
            <a:ext cx="9525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D6A96"/>
                </a:solidFill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1D6A96"/>
                </a:solidFill>
              </a:defRPr>
            </a:pPr>
            <a:r>
              <a:rPr sz="1425" b="1">
                <a:solidFill>
                  <a:srgbClr val="1D6A96"/>
                </a:solidFill>
              </a:rPr>
              <a:t>Issues SQA-01–10 · tablero público → Pull Request → revisión → main</a:t>
            </a:r>
          </a:p>
        </p:txBody>
      </p:sp>
    </p:spTree>
    <p:extLst>
      <p:ext uri="{BB962C8B-B14F-4D97-AF65-F5344CB8AC3E}">
        <p14:creationId xmlns:p14="http://schemas.microsoft.com/office/powerpoint/2010/main" val="144826860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2026-10-15T01:50:35.7830000Z</dcterms:created>
  <dcterms:modified xsi:type="dcterms:W3CDTF">2026-10-15T01:50:35.7830000Z</dcterms:modified>
</coreProperties>
</file>