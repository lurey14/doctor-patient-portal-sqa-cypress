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19B7FA5-CD8E-486F-A02A-B2A19D9CD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683484F-C2B2-4E26-9646-94611B464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4785C68-EC06-445B-8FB5-4D09CE7C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84F0DE4-DF45-4928-A35D-EBEA7B4D0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8F3B0AA-4B92-49F9-84EF-44F35856A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8B5C9DC-4397-4E3F-AA07-780817DC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9BBED52-B096-46DA-A86D-AD132CA24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1C8FFBE-B572-4C8D-B380-DB4006F0E7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49FF770-A7B3-4B67-9CB7-B45E1D375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8BA685A-D9C6-4504-985D-0F7D56F61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23AB6EF-F68F-48A5-9253-70CE4F672E39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287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3600" b="1">
                <a:solidFill>
                  <a:srgbClr val="FFFFFF"/>
                </a:solidFill>
              </a:defRPr>
            </a:defPPr>
          </a:lstStyle>
          <a:p>
            <a:pPr>
              <a:buNone/>
              <a:defRPr sz="3600" b="1">
                <a:solidFill>
                  <a:srgbClr val="FFFFFF"/>
                </a:solidFill>
              </a:defRPr>
            </a:pPr>
            <a:r>
              <a:rPr sz="3600" b="1" dirty="0" err="1">
                <a:solidFill>
                  <a:srgbClr val="FFFFFF"/>
                </a:solidFill>
              </a:rPr>
              <a:t>Automatización</a:t>
            </a:r>
            <a:r>
              <a:rPr sz="3600" b="1" dirty="0">
                <a:solidFill>
                  <a:srgbClr val="FFFFFF"/>
                </a:solidFill>
              </a:rPr>
              <a:t> de </a:t>
            </a:r>
            <a:r>
              <a:rPr sz="3600" b="1" dirty="0" err="1">
                <a:solidFill>
                  <a:srgbClr val="FFFFFF"/>
                </a:solidFill>
              </a:rPr>
              <a:t>pruebas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7E7E0EE-2AC5-4B66-A589-E4A5509087D2}"/>
              </a:ext>
            </a:extLst>
          </p:cNvPr>
          <p:cNvSpPr>
            <a:spLocks noGrp="1"/>
          </p:cNvSpPr>
          <p:nvPr/>
        </p:nvSpPr>
        <p:spPr>
          <a:xfrm>
            <a:off x="723900" y="2333625"/>
            <a:ext cx="1000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0">
                <a:solidFill>
                  <a:srgbClr val="B9D9EA"/>
                </a:solidFill>
              </a:defRPr>
            </a:defPPr>
          </a:lstStyle>
          <a:p>
            <a:pPr>
              <a:buNone/>
              <a:defRPr sz="1950" b="0">
                <a:solidFill>
                  <a:srgbClr val="B9D9EA"/>
                </a:solidFill>
              </a:defRPr>
            </a:pPr>
            <a:r>
              <a:rPr sz="1950" b="0">
                <a:solidFill>
                  <a:srgbClr val="B9D9EA"/>
                </a:solidFill>
              </a:rPr>
              <a:t>Doctor Patient Portal con Cypress y Docker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70D82B-2A3C-41EC-A38C-7852382411CB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0">
                <a:solidFill>
                  <a:srgbClr val="FFFFFF"/>
                </a:solidFill>
              </a:defRPr>
            </a:defPPr>
          </a:lstStyle>
          <a:p>
            <a:pPr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Plan de pruebas · Historias y casos · Ejecución · Organización Git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1D32375-180C-4C1E-97CC-769003ADEDB5}"/>
              </a:ext>
            </a:extLst>
          </p:cNvPr>
          <p:cNvSpPr>
            <a:spLocks noGrp="1"/>
          </p:cNvSpPr>
          <p:nvPr/>
        </p:nvSpPr>
        <p:spPr>
          <a:xfrm>
            <a:off x="723900" y="5004619"/>
            <a:ext cx="10477500" cy="10342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00" b="0">
                <a:solidFill>
                  <a:srgbClr val="D7E8F2"/>
                </a:solidFill>
              </a:defRPr>
            </a:defPPr>
          </a:lstStyle>
          <a:p>
            <a:pPr>
              <a:buNone/>
              <a:defRPr sz="1200" b="0">
                <a:solidFill>
                  <a:srgbClr val="D7E8F2"/>
                </a:solidFill>
              </a:defRPr>
            </a:pPr>
            <a:r>
              <a:rPr sz="1400" b="0" dirty="0">
                <a:solidFill>
                  <a:srgbClr val="D7E8F2"/>
                </a:solidFill>
                <a:latin typeface="+mj-lt"/>
              </a:rPr>
              <a:t>Noemy Molina Garron </a:t>
            </a:r>
            <a:endParaRPr lang="es-BO" sz="1400" b="0" dirty="0">
              <a:solidFill>
                <a:srgbClr val="D7E8F2"/>
              </a:solidFill>
              <a:latin typeface="+mj-lt"/>
            </a:endParaRPr>
          </a:p>
          <a:p>
            <a:pPr>
              <a:buNone/>
              <a:defRPr sz="1200" b="0">
                <a:solidFill>
                  <a:srgbClr val="D7E8F2"/>
                </a:solidFill>
              </a:defRPr>
            </a:pPr>
            <a:r>
              <a:rPr sz="1400" b="0" dirty="0">
                <a:solidFill>
                  <a:srgbClr val="D7E8F2"/>
                </a:solidFill>
                <a:latin typeface="+mj-lt"/>
              </a:rPr>
              <a:t>Wendy Ramirez Veizaga</a:t>
            </a:r>
            <a:endParaRPr lang="es-BO" sz="1400" b="0" dirty="0">
              <a:solidFill>
                <a:srgbClr val="D7E8F2"/>
              </a:solidFill>
              <a:latin typeface="+mj-lt"/>
            </a:endParaRPr>
          </a:p>
          <a:p>
            <a:pPr>
              <a:buNone/>
              <a:defRPr sz="1200" b="0">
                <a:solidFill>
                  <a:srgbClr val="D7E8F2"/>
                </a:solidFill>
              </a:defRPr>
            </a:pPr>
            <a:r>
              <a:rPr sz="1400" b="0" dirty="0">
                <a:solidFill>
                  <a:srgbClr val="D7E8F2"/>
                </a:solidFill>
                <a:latin typeface="+mj-lt"/>
              </a:rPr>
              <a:t>Natalia Romero </a:t>
            </a:r>
            <a:r>
              <a:rPr sz="1400" b="0" dirty="0" err="1">
                <a:solidFill>
                  <a:srgbClr val="D7E8F2"/>
                </a:solidFill>
                <a:latin typeface="+mj-lt"/>
              </a:rPr>
              <a:t>Cuqui</a:t>
            </a:r>
            <a:r>
              <a:rPr sz="1400" b="0" dirty="0">
                <a:solidFill>
                  <a:srgbClr val="D7E8F2"/>
                </a:solidFill>
                <a:latin typeface="+mj-lt"/>
              </a:rPr>
              <a:t> </a:t>
            </a:r>
            <a:endParaRPr lang="es-BO" sz="1400" dirty="0">
              <a:solidFill>
                <a:srgbClr val="D7E8F2"/>
              </a:solidFill>
              <a:latin typeface="+mj-lt"/>
            </a:endParaRPr>
          </a:p>
          <a:p>
            <a:pPr>
              <a:buNone/>
              <a:defRPr sz="1200" b="0">
                <a:solidFill>
                  <a:srgbClr val="D7E8F2"/>
                </a:solidFill>
              </a:defRPr>
            </a:pPr>
            <a:r>
              <a:rPr sz="1400" b="0" dirty="0">
                <a:solidFill>
                  <a:srgbClr val="D7E8F2"/>
                </a:solidFill>
                <a:latin typeface="+mj-lt"/>
              </a:rPr>
              <a:t>Alex Joshua Villegas Ibanez</a:t>
            </a:r>
          </a:p>
        </p:txBody>
      </p:sp>
    </p:spTree>
    <p:extLst>
      <p:ext uri="{BB962C8B-B14F-4D97-AF65-F5344CB8AC3E}">
        <p14:creationId xmlns:p14="http://schemas.microsoft.com/office/powerpoint/2010/main" val="177551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877A6D41-7014-4E7F-AA6C-046E342AF76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050" b="1">
                <a:solidFill>
                  <a:srgbClr val="1D6A96"/>
                </a:solidFill>
              </a:defRPr>
            </a:pPr>
            <a:r>
              <a:rPr sz="1050" b="1">
                <a:solidFill>
                  <a:srgbClr val="1D6A96"/>
                </a:solidFill>
              </a:rPr>
              <a:t>DOCTOR PATIENT PORTAL  /  AUTOMATIZACIÓN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A098F79-6E97-4860-AD2D-21A3A18BE58E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2304A"/>
                </a:solidFill>
              </a:defRPr>
            </a:defPPr>
          </a:lstStyle>
          <a:p>
            <a:pPr>
              <a:buNone/>
              <a:defRPr sz="2700" b="1">
                <a:solidFill>
                  <a:srgbClr val="12304A"/>
                </a:solidFill>
              </a:defRPr>
            </a:pPr>
            <a:r>
              <a:rPr sz="2700" b="1">
                <a:solidFill>
                  <a:srgbClr val="12304A"/>
                </a:solidFill>
              </a:rPr>
              <a:t>Objetivo y entorno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68701A-98E0-4DF8-AC28-44012ACA751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526777"/>
                </a:solidFill>
              </a:defRPr>
            </a:defPPr>
          </a:lstStyle>
          <a:p>
            <a:pPr>
              <a:buNone/>
              <a:defRPr sz="1425" b="0">
                <a:solidFill>
                  <a:srgbClr val="526777"/>
                </a:solidFill>
              </a:defRPr>
            </a:pPr>
            <a:r>
              <a:rPr sz="1425" b="0">
                <a:solidFill>
                  <a:srgbClr val="526777"/>
                </a:solidFill>
              </a:rPr>
              <a:t>Reproducir los flujos principales con un entorno de prueba compartido.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8B46C3-C849-44CB-99AF-B09112A3F55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47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00" b="0">
                <a:solidFill>
                  <a:srgbClr val="526777"/>
                </a:solidFill>
              </a:defRPr>
            </a:defPPr>
          </a:lstStyle>
          <a:p>
            <a:pPr>
              <a:buNone/>
              <a:defRPr sz="900" b="0">
                <a:solidFill>
                  <a:srgbClr val="526777"/>
                </a:solidFill>
              </a:defRPr>
            </a:pPr>
            <a:r>
              <a:rPr sz="900" b="0">
                <a:solidFill>
                  <a:srgbClr val="526777"/>
                </a:solidFill>
              </a:rPr>
              <a:t>SQA  ·  Equipo Noemy, Wendy, Natalia y Alex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8FA9C82-3A1B-4AE4-B588-83DA9AF708CF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650" b="1">
                <a:solidFill>
                  <a:srgbClr val="1D6A96"/>
                </a:solidFill>
              </a:defRPr>
            </a:pPr>
            <a:r>
              <a:rPr sz="1650" b="1">
                <a:solidFill>
                  <a:srgbClr val="1D6A96"/>
                </a:solidFill>
              </a:rPr>
              <a:t>Aplicación web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AA25E81-D4A3-4307-B141-7BD9A7F2296D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72B3A"/>
                </a:solidFill>
              </a:defRPr>
            </a:defPPr>
          </a:lstStyle>
          <a:p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Java / JSP en Tomcat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4E70088-6A78-4F81-961D-9F037674C2EF}"/>
              </a:ext>
            </a:extLst>
          </p:cNvPr>
          <p:cNvSpPr>
            <a:spLocks noGrp="1"/>
          </p:cNvSpPr>
          <p:nvPr/>
        </p:nvSpPr>
        <p:spPr>
          <a:xfrm>
            <a:off x="4857750" y="233362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650" b="1">
                <a:solidFill>
                  <a:srgbClr val="1D6A96"/>
                </a:solidFill>
              </a:defRPr>
            </a:pPr>
            <a:r>
              <a:rPr sz="1650" b="1">
                <a:solidFill>
                  <a:srgbClr val="1D6A96"/>
                </a:solidFill>
              </a:rPr>
              <a:t>Base de datos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FF5974B-72F6-4361-8458-EC895D75EA1A}"/>
              </a:ext>
            </a:extLst>
          </p:cNvPr>
          <p:cNvSpPr>
            <a:spLocks noGrp="1"/>
          </p:cNvSpPr>
          <p:nvPr/>
        </p:nvSpPr>
        <p:spPr>
          <a:xfrm>
            <a:off x="4857750" y="27622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72B3A"/>
                </a:solidFill>
              </a:defRPr>
            </a:defPPr>
          </a:lstStyle>
          <a:p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MySQL en Docker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C42325F-2DF3-4904-A2AC-DC620B2CCAC3}"/>
              </a:ext>
            </a:extLst>
          </p:cNvPr>
          <p:cNvSpPr>
            <a:spLocks noGrp="1"/>
          </p:cNvSpPr>
          <p:nvPr/>
        </p:nvSpPr>
        <p:spPr>
          <a:xfrm>
            <a:off x="8763000" y="233362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650" b="1">
                <a:solidFill>
                  <a:srgbClr val="1D6A96"/>
                </a:solidFill>
              </a:defRPr>
            </a:pPr>
            <a:r>
              <a:rPr sz="1650" b="1">
                <a:solidFill>
                  <a:srgbClr val="1D6A96"/>
                </a:solidFill>
              </a:rPr>
              <a:t>Automatización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BDFD400-24FA-49CC-9830-6640EEA7F684}"/>
              </a:ext>
            </a:extLst>
          </p:cNvPr>
          <p:cNvSpPr>
            <a:spLocks noGrp="1"/>
          </p:cNvSpPr>
          <p:nvPr/>
        </p:nvSpPr>
        <p:spPr>
          <a:xfrm>
            <a:off x="8763000" y="27622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72B3A"/>
                </a:solidFill>
              </a:defRPr>
            </a:defPPr>
          </a:lstStyle>
          <a:p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Cypress local en VS Code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EC20728-24F3-4371-85F9-6D4DAC071300}"/>
              </a:ext>
            </a:extLst>
          </p:cNvPr>
          <p:cNvSpPr>
            <a:spLocks noGrp="1"/>
          </p:cNvSpPr>
          <p:nvPr/>
        </p:nvSpPr>
        <p:spPr>
          <a:xfrm>
            <a:off x="762000" y="3857625"/>
            <a:ext cx="10287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12304A"/>
                </a:solidFill>
              </a:defRPr>
            </a:defPPr>
          </a:lstStyle>
          <a:p>
            <a:pPr>
              <a:buNone/>
              <a:defRPr sz="1800" b="1">
                <a:solidFill>
                  <a:srgbClr val="12304A"/>
                </a:solidFill>
              </a:defRPr>
            </a:pPr>
            <a:r>
              <a:rPr sz="1800" b="1">
                <a:solidFill>
                  <a:srgbClr val="12304A"/>
                </a:solidFill>
              </a:rPr>
              <a:t>Cronograma: entorno Docker/MySQL 12/10 · organización de tareas 14/10 · seguimiento y revisión 15–18/10 · presentación 19/10.</a:t>
            </a:r>
          </a:p>
        </p:txBody>
      </p:sp>
    </p:spTree>
    <p:extLst>
      <p:ext uri="{BB962C8B-B14F-4D97-AF65-F5344CB8AC3E}">
        <p14:creationId xmlns:p14="http://schemas.microsoft.com/office/powerpoint/2010/main" val="100625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CC791DD-4297-4709-8E0B-EB2FE2EA97E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050" b="1">
                <a:solidFill>
                  <a:srgbClr val="1D6A96"/>
                </a:solidFill>
              </a:defRPr>
            </a:pPr>
            <a:r>
              <a:rPr sz="1050" b="1">
                <a:solidFill>
                  <a:srgbClr val="1D6A96"/>
                </a:solidFill>
              </a:rPr>
              <a:t>DOCTOR PATIENT PORTAL  /  AUTOMATIZACIÓN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0AB753E-CBFD-4E25-BCED-8BDA553E31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2304A"/>
                </a:solidFill>
              </a:defRPr>
            </a:defPPr>
          </a:lstStyle>
          <a:p>
            <a:pPr>
              <a:buNone/>
              <a:defRPr sz="2700" b="1">
                <a:solidFill>
                  <a:srgbClr val="12304A"/>
                </a:solidFill>
              </a:defRPr>
            </a:pPr>
            <a:r>
              <a:rPr sz="2700" b="1">
                <a:solidFill>
                  <a:srgbClr val="12304A"/>
                </a:solidFill>
              </a:rPr>
              <a:t>Cobertura de pruebas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DE01529-AFA2-456F-8DD2-E109E4DEB37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526777"/>
                </a:solidFill>
              </a:defRPr>
            </a:defPPr>
          </a:lstStyle>
          <a:p>
            <a:pPr>
              <a:buNone/>
              <a:defRPr sz="1425" b="0">
                <a:solidFill>
                  <a:srgbClr val="526777"/>
                </a:solidFill>
              </a:defRPr>
            </a:pPr>
            <a:r>
              <a:rPr sz="1425" b="0">
                <a:solidFill>
                  <a:srgbClr val="526777"/>
                </a:solidFill>
              </a:rPr>
              <a:t>22 casos automatizados para los flujos disponibles; CP-23 documenta la brecha de alta de administrador.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CB876A-C808-4A4C-96BE-FADB51DD1B9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47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00" b="0">
                <a:solidFill>
                  <a:srgbClr val="526777"/>
                </a:solidFill>
              </a:defRPr>
            </a:defPPr>
          </a:lstStyle>
          <a:p>
            <a:pPr>
              <a:buNone/>
              <a:defRPr sz="900" b="0">
                <a:solidFill>
                  <a:srgbClr val="526777"/>
                </a:solidFill>
              </a:defRPr>
            </a:pPr>
            <a:r>
              <a:rPr sz="900" b="0">
                <a:solidFill>
                  <a:srgbClr val="526777"/>
                </a:solidFill>
              </a:rPr>
              <a:t>SQA  ·  Equipo Noemy, Wendy, Natalia y Alex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1A07298-00AF-46FA-8FA2-A0D16E8E0686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800" b="1">
                <a:solidFill>
                  <a:srgbClr val="1D6A96"/>
                </a:solidFill>
              </a:defRPr>
            </a:pPr>
            <a:r>
              <a:rPr sz="1800" b="1">
                <a:solidFill>
                  <a:srgbClr val="1D6A96"/>
                </a:solidFill>
              </a:rPr>
              <a:t>Administración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F98B9D1-EA4B-43AF-8B35-84D517F9DA51}"/>
              </a:ext>
            </a:extLst>
          </p:cNvPr>
          <p:cNvSpPr>
            <a:spLocks noGrp="1"/>
          </p:cNvSpPr>
          <p:nvPr/>
        </p:nvSpPr>
        <p:spPr>
          <a:xfrm>
            <a:off x="762000" y="2686050"/>
            <a:ext cx="4667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72B3A"/>
                </a:solidFill>
              </a:defRPr>
            </a:defPPr>
          </a:lstStyle>
          <a:p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Login · especialidad · alta/edición/listado/eliminación de doctores · citas globales · logout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88E31F-00B4-4EAD-A74C-4C26A641EDD0}"/>
              </a:ext>
            </a:extLst>
          </p:cNvPr>
          <p:cNvSpPr>
            <a:spLocks noGrp="1"/>
          </p:cNvSpPr>
          <p:nvPr/>
        </p:nvSpPr>
        <p:spPr>
          <a:xfrm>
            <a:off x="6096000" y="2238375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800" b="1">
                <a:solidFill>
                  <a:srgbClr val="1D6A96"/>
                </a:solidFill>
              </a:defRPr>
            </a:pPr>
            <a:r>
              <a:rPr sz="1800" b="1">
                <a:solidFill>
                  <a:srgbClr val="1D6A96"/>
                </a:solidFill>
              </a:rPr>
              <a:t>Paciente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D5E1EAA-4941-4159-938C-DB26E9193F35}"/>
              </a:ext>
            </a:extLst>
          </p:cNvPr>
          <p:cNvSpPr>
            <a:spLocks noGrp="1"/>
          </p:cNvSpPr>
          <p:nvPr/>
        </p:nvSpPr>
        <p:spPr>
          <a:xfrm>
            <a:off x="6096000" y="2686050"/>
            <a:ext cx="52387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72B3A"/>
                </a:solidFill>
              </a:defRPr>
            </a:defPPr>
          </a:lstStyle>
          <a:p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Registro · login · solicitar/consultar cita · cambiar contraseña · logout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6E9F02-1BEE-4096-B2C9-44987E76A2FA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800" b="1">
                <a:solidFill>
                  <a:srgbClr val="1D6A96"/>
                </a:solidFill>
              </a:defRPr>
            </a:pPr>
            <a:r>
              <a:rPr sz="1800" b="1">
                <a:solidFill>
                  <a:srgbClr val="1D6A96"/>
                </a:solidFill>
              </a:rPr>
              <a:t>Doctor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73BE652-90B9-4890-AEC1-D973AC5C3DF5}"/>
              </a:ext>
            </a:extLst>
          </p:cNvPr>
          <p:cNvSpPr>
            <a:spLocks noGrp="1"/>
          </p:cNvSpPr>
          <p:nvPr/>
        </p:nvSpPr>
        <p:spPr>
          <a:xfrm>
            <a:off x="762000" y="4448175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72B3A"/>
                </a:solidFill>
              </a:defRPr>
            </a:defPPr>
          </a:lstStyle>
          <a:p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Login · dashboard · pacientes/tratamientos · perfil/clave · logout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E5D3CD-0E15-4879-94FF-029C11A9EFE3}"/>
              </a:ext>
            </a:extLst>
          </p:cNvPr>
          <p:cNvSpPr>
            <a:spLocks noGrp="1"/>
          </p:cNvSpPr>
          <p:nvPr/>
        </p:nvSpPr>
        <p:spPr>
          <a:xfrm>
            <a:off x="6096000" y="40005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800" b="1">
                <a:solidFill>
                  <a:srgbClr val="1D6A96"/>
                </a:solidFill>
              </a:defRPr>
            </a:pPr>
            <a:r>
              <a:rPr sz="1800" b="1">
                <a:solidFill>
                  <a:srgbClr val="1D6A96"/>
                </a:solidFill>
              </a:rPr>
              <a:t>Brecha detectada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ECA2ED1-3069-4C7C-B14E-53C01E5F10AE}"/>
              </a:ext>
            </a:extLst>
          </p:cNvPr>
          <p:cNvSpPr>
            <a:spLocks noGrp="1"/>
          </p:cNvSpPr>
          <p:nvPr/>
        </p:nvSpPr>
        <p:spPr>
          <a:xfrm>
            <a:off x="6096000" y="4448175"/>
            <a:ext cx="5143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0">
                <a:solidFill>
                  <a:srgbClr val="172B3A"/>
                </a:solidFill>
              </a:defRPr>
            </a:defPPr>
          </a:lstStyle>
          <a:p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Esta versión del portal no ofrece alta de administradores. CP-23 identifica y describe esta brecha funcional.</a:t>
            </a:r>
          </a:p>
        </p:txBody>
      </p:sp>
    </p:spTree>
    <p:extLst>
      <p:ext uri="{BB962C8B-B14F-4D97-AF65-F5344CB8AC3E}">
        <p14:creationId xmlns:p14="http://schemas.microsoft.com/office/powerpoint/2010/main" val="36473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583035A6-6124-4417-942E-ABC55ABB2A2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050" b="1">
                <a:solidFill>
                  <a:srgbClr val="1D6A96"/>
                </a:solidFill>
              </a:defRPr>
            </a:pPr>
            <a:r>
              <a:rPr sz="1050" b="1">
                <a:solidFill>
                  <a:srgbClr val="1D6A96"/>
                </a:solidFill>
              </a:rPr>
              <a:t>DOCTOR PATIENT PORTAL  /  AUTOMATIZACIÓN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F589B5E-FE8F-47E7-ADF0-F49A0505F73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2304A"/>
                </a:solidFill>
              </a:defRPr>
            </a:defPPr>
          </a:lstStyle>
          <a:p>
            <a:pPr>
              <a:buNone/>
              <a:defRPr sz="2700" b="1">
                <a:solidFill>
                  <a:srgbClr val="12304A"/>
                </a:solidFill>
              </a:defRPr>
            </a:pPr>
            <a:r>
              <a:rPr sz="2700" b="1">
                <a:solidFill>
                  <a:srgbClr val="12304A"/>
                </a:solidFill>
              </a:rPr>
              <a:t>Ejecución y evidencia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12C3A6-912A-4DBF-9D4A-46F85A2F083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526777"/>
                </a:solidFill>
              </a:defRPr>
            </a:defPPr>
          </a:lstStyle>
          <a:p>
            <a:pPr>
              <a:buNone/>
              <a:defRPr sz="1425" b="0">
                <a:solidFill>
                  <a:srgbClr val="526777"/>
                </a:solidFill>
              </a:defRPr>
            </a:pPr>
            <a:r>
              <a:rPr sz="1425" b="0">
                <a:solidFill>
                  <a:srgbClr val="526777"/>
                </a:solidFill>
              </a:rPr>
              <a:t>La suite separa los flujos de visitante, administración, paciente y doctor.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2AB8B8B-D92A-4D35-B81D-6EEB447302A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47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00" b="0">
                <a:solidFill>
                  <a:srgbClr val="526777"/>
                </a:solidFill>
              </a:defRPr>
            </a:defPPr>
          </a:lstStyle>
          <a:p>
            <a:pPr>
              <a:buNone/>
              <a:defRPr sz="900" b="0">
                <a:solidFill>
                  <a:srgbClr val="526777"/>
                </a:solidFill>
              </a:defRPr>
            </a:pPr>
            <a:r>
              <a:rPr sz="900" b="0">
                <a:solidFill>
                  <a:srgbClr val="526777"/>
                </a:solidFill>
              </a:rPr>
              <a:t>SQA  ·  Equipo Noemy, Wendy, Natalia y Alex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E4C0ADA-E944-4C64-958B-D1932F06A276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3150" b="1">
                <a:solidFill>
                  <a:srgbClr val="1D6A96"/>
                </a:solidFill>
              </a:defRPr>
            </a:defPPr>
          </a:lstStyle>
          <a:p>
            <a:pPr>
              <a:buNone/>
              <a:defRPr sz="3150" b="1">
                <a:solidFill>
                  <a:srgbClr val="1D6A96"/>
                </a:solidFill>
              </a:defRPr>
            </a:pPr>
            <a:r>
              <a:rPr sz="3150" b="1">
                <a:solidFill>
                  <a:srgbClr val="1D6A96"/>
                </a:solidFill>
              </a:rPr>
              <a:t>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5C6079-3EDB-433A-85AC-3C2571BEB366}"/>
              </a:ext>
            </a:extLst>
          </p:cNvPr>
          <p:cNvSpPr>
            <a:spLocks noGrp="1"/>
          </p:cNvSpPr>
          <p:nvPr/>
        </p:nvSpPr>
        <p:spPr>
          <a:xfrm>
            <a:off x="1619250" y="2428875"/>
            <a:ext cx="3714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 b="1">
                <a:solidFill>
                  <a:srgbClr val="12304A"/>
                </a:solidFill>
              </a:defRPr>
            </a:defPPr>
          </a:lstStyle>
          <a:p>
            <a:pPr>
              <a:buNone/>
              <a:defRPr sz="1875" b="1">
                <a:solidFill>
                  <a:srgbClr val="12304A"/>
                </a:solidFill>
              </a:defRPr>
            </a:pPr>
            <a:r>
              <a:rPr sz="1875" b="1">
                <a:solidFill>
                  <a:srgbClr val="12304A"/>
                </a:solidFill>
              </a:rPr>
              <a:t>Entorno Docker y MySQL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47672A5-D04C-4906-B2C0-633E12FFFB81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3150" b="1">
                <a:solidFill>
                  <a:srgbClr val="1D6A96"/>
                </a:solidFill>
              </a:defRPr>
            </a:defPPr>
          </a:lstStyle>
          <a:p>
            <a:pPr>
              <a:buNone/>
              <a:defRPr sz="3150" b="1">
                <a:solidFill>
                  <a:srgbClr val="1D6A96"/>
                </a:solidFill>
              </a:defRPr>
            </a:pPr>
            <a:r>
              <a:rPr sz="3150" b="1">
                <a:solidFill>
                  <a:srgbClr val="1D6A96"/>
                </a:solidFill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A73C478-F25F-4F73-A13E-613D29130BEC}"/>
              </a:ext>
            </a:extLst>
          </p:cNvPr>
          <p:cNvSpPr>
            <a:spLocks noGrp="1"/>
          </p:cNvSpPr>
          <p:nvPr/>
        </p:nvSpPr>
        <p:spPr>
          <a:xfrm>
            <a:off x="1619250" y="3429000"/>
            <a:ext cx="447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 b="1">
                <a:solidFill>
                  <a:srgbClr val="12304A"/>
                </a:solidFill>
              </a:defRPr>
            </a:defPPr>
          </a:lstStyle>
          <a:p>
            <a:pPr>
              <a:buNone/>
              <a:defRPr sz="1875" b="1">
                <a:solidFill>
                  <a:srgbClr val="12304A"/>
                </a:solidFill>
              </a:defRPr>
            </a:pPr>
            <a:r>
              <a:rPr sz="1875" b="1">
                <a:solidFill>
                  <a:srgbClr val="12304A"/>
                </a:solidFill>
              </a:rPr>
              <a:t>Suite E2E en Cypress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0DCF825-6DDF-49C4-9B2E-F7B7A99C1B0C}"/>
              </a:ext>
            </a:extLst>
          </p:cNvPr>
          <p:cNvSpPr>
            <a:spLocks noGrp="1"/>
          </p:cNvSpPr>
          <p:nvPr/>
        </p:nvSpPr>
        <p:spPr>
          <a:xfrm>
            <a:off x="857250" y="4333875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3150" b="1">
                <a:solidFill>
                  <a:srgbClr val="1D6A96"/>
                </a:solidFill>
              </a:defRPr>
            </a:defPPr>
          </a:lstStyle>
          <a:p>
            <a:pPr>
              <a:buNone/>
              <a:defRPr sz="3150" b="1">
                <a:solidFill>
                  <a:srgbClr val="1D6A96"/>
                </a:solidFill>
              </a:defRPr>
            </a:pPr>
            <a:r>
              <a:rPr sz="3150" b="1">
                <a:solidFill>
                  <a:srgbClr val="1D6A96"/>
                </a:solidFill>
              </a:rPr>
              <a:t>3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1A11DE6-BA24-40DB-930D-07E61FFC956C}"/>
              </a:ext>
            </a:extLst>
          </p:cNvPr>
          <p:cNvSpPr>
            <a:spLocks noGrp="1"/>
          </p:cNvSpPr>
          <p:nvPr/>
        </p:nvSpPr>
        <p:spPr>
          <a:xfrm>
            <a:off x="1619250" y="4429125"/>
            <a:ext cx="457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 b="1">
                <a:solidFill>
                  <a:srgbClr val="12304A"/>
                </a:solidFill>
              </a:defRPr>
            </a:defPPr>
          </a:lstStyle>
          <a:p>
            <a:pPr>
              <a:buNone/>
              <a:defRPr sz="1875" b="1">
                <a:solidFill>
                  <a:srgbClr val="12304A"/>
                </a:solidFill>
              </a:defRPr>
            </a:pPr>
            <a:r>
              <a:rPr sz="1875" b="1">
                <a:solidFill>
                  <a:srgbClr val="12304A"/>
                </a:solidFill>
              </a:rPr>
              <a:t>Resultado y trazabilidad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2757C5A-CA0F-4362-A8C5-A55140CEABEB}"/>
              </a:ext>
            </a:extLst>
          </p:cNvPr>
          <p:cNvSpPr>
            <a:spLocks noGrp="1"/>
          </p:cNvSpPr>
          <p:nvPr/>
        </p:nvSpPr>
        <p:spPr>
          <a:xfrm>
            <a:off x="6667500" y="3143250"/>
            <a:ext cx="447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 b="1">
                <a:solidFill>
                  <a:srgbClr val="12304A"/>
                </a:solidFill>
              </a:defRPr>
            </a:defPPr>
          </a:lstStyle>
          <a:p>
            <a:pPr>
              <a:buNone/>
              <a:defRPr sz="1875" b="1">
                <a:solidFill>
                  <a:srgbClr val="12304A"/>
                </a:solidFill>
              </a:defRPr>
            </a:pPr>
            <a:r>
              <a:rPr sz="1875" b="1" dirty="0" err="1">
                <a:solidFill>
                  <a:srgbClr val="12304A"/>
                </a:solidFill>
              </a:rPr>
              <a:t>Ejecución</a:t>
            </a:r>
            <a:r>
              <a:rPr sz="1875" b="1" dirty="0">
                <a:solidFill>
                  <a:srgbClr val="12304A"/>
                </a:solidFill>
              </a:rPr>
              <a:t> local </a:t>
            </a:r>
            <a:r>
              <a:rPr sz="1875" b="1" dirty="0" err="1">
                <a:solidFill>
                  <a:srgbClr val="12304A"/>
                </a:solidFill>
              </a:rPr>
              <a:t>registrada</a:t>
            </a:r>
            <a:r>
              <a:rPr sz="1875" b="1" dirty="0">
                <a:solidFill>
                  <a:srgbClr val="12304A"/>
                </a:solidFill>
              </a:rPr>
              <a:t> · 1</a:t>
            </a:r>
            <a:r>
              <a:rPr lang="es-BO" sz="1875" b="1" dirty="0">
                <a:solidFill>
                  <a:srgbClr val="12304A"/>
                </a:solidFill>
              </a:rPr>
              <a:t>8</a:t>
            </a:r>
            <a:r>
              <a:rPr sz="1875" b="1" dirty="0">
                <a:solidFill>
                  <a:srgbClr val="12304A"/>
                </a:solidFill>
              </a:rPr>
              <a:t>/10/2026</a:t>
            </a:r>
          </a:p>
          <a:p>
            <a:pPr>
              <a:buNone/>
              <a:defRPr sz="1875" b="1">
                <a:solidFill>
                  <a:srgbClr val="12304A"/>
                </a:solidFill>
              </a:defRPr>
            </a:pPr>
            <a:r>
              <a:rPr sz="1875" b="1" dirty="0">
                <a:solidFill>
                  <a:srgbClr val="12304A"/>
                </a:solidFill>
              </a:rPr>
              <a:t>22 passing · 0 failing · 0 pending</a:t>
            </a:r>
          </a:p>
        </p:txBody>
      </p:sp>
    </p:spTree>
    <p:extLst>
      <p:ext uri="{BB962C8B-B14F-4D97-AF65-F5344CB8AC3E}">
        <p14:creationId xmlns:p14="http://schemas.microsoft.com/office/powerpoint/2010/main" val="1590082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2814E9B7-9503-4A48-ACEC-82346E3014A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050" b="1">
                <a:solidFill>
                  <a:srgbClr val="1D6A96"/>
                </a:solidFill>
              </a:defRPr>
            </a:pPr>
            <a:r>
              <a:rPr sz="1050" b="1">
                <a:solidFill>
                  <a:srgbClr val="1D6A96"/>
                </a:solidFill>
              </a:rPr>
              <a:t>DOCTOR PATIENT PORTAL  /  AUTOMATIZACIÓN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7A66D62-57F6-47EC-AA0C-B4A60F5DF9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12304A"/>
                </a:solidFill>
              </a:defRPr>
            </a:defPPr>
          </a:lstStyle>
          <a:p>
            <a:pPr>
              <a:buNone/>
              <a:defRPr sz="2700" b="1">
                <a:solidFill>
                  <a:srgbClr val="12304A"/>
                </a:solidFill>
              </a:defRPr>
            </a:pPr>
            <a:r>
              <a:rPr sz="2700" b="1">
                <a:solidFill>
                  <a:srgbClr val="12304A"/>
                </a:solidFill>
              </a:rPr>
              <a:t>Scrum ligero y Git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557FF2C-3F05-4BFD-AEE8-7B6E7CDF650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526777"/>
                </a:solidFill>
              </a:defRPr>
            </a:defPPr>
          </a:lstStyle>
          <a:p>
            <a:pPr>
              <a:buNone/>
              <a:defRPr sz="1425" b="0">
                <a:solidFill>
                  <a:srgbClr val="526777"/>
                </a:solidFill>
              </a:defRPr>
            </a:pPr>
            <a:r>
              <a:rPr sz="1425" b="0">
                <a:solidFill>
                  <a:srgbClr val="526777"/>
                </a:solidFill>
              </a:rPr>
              <a:t>Cronograma del 14 al 19/10: planificación, seguimiento y revisión; presentación el 19/10.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CB2207C-F3C4-485D-AAE3-4781B7F019F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47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00" b="0">
                <a:solidFill>
                  <a:srgbClr val="526777"/>
                </a:solidFill>
              </a:defRPr>
            </a:defPPr>
          </a:lstStyle>
          <a:p>
            <a:pPr>
              <a:buNone/>
              <a:defRPr sz="900" b="0">
                <a:solidFill>
                  <a:srgbClr val="526777"/>
                </a:solidFill>
              </a:defRPr>
            </a:pPr>
            <a:r>
              <a:rPr sz="900" b="0">
                <a:solidFill>
                  <a:srgbClr val="526777"/>
                </a:solidFill>
              </a:rPr>
              <a:t>SQA  ·  Equipo Noemy, Wendy, Natalia y Alex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ECD0485-8B81-4828-B2E7-4377A0707B7A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180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100" b="1">
                <a:solidFill>
                  <a:srgbClr val="12304A"/>
                </a:solidFill>
              </a:defRPr>
            </a:defPPr>
          </a:lstStyle>
          <a:p>
            <a:pPr>
              <a:buNone/>
              <a:defRPr sz="2100" b="1">
                <a:solidFill>
                  <a:srgbClr val="12304A"/>
                </a:solidFill>
              </a:defRPr>
            </a:pPr>
            <a:r>
              <a:rPr sz="2100" b="1">
                <a:solidFill>
                  <a:srgbClr val="12304A"/>
                </a:solidFill>
              </a:rPr>
              <a:t>main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B07A657-D222-4DAC-9238-2E9282109E02}"/>
              </a:ext>
            </a:extLst>
          </p:cNvPr>
          <p:cNvSpPr>
            <a:spLocks noGrp="1"/>
          </p:cNvSpPr>
          <p:nvPr/>
        </p:nvSpPr>
        <p:spPr>
          <a:xfrm>
            <a:off x="3333750" y="2352675"/>
            <a:ext cx="790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1">
                <a:solidFill>
                  <a:srgbClr val="1D6A96"/>
                </a:solidFill>
              </a:defRPr>
            </a:defPPr>
          </a:lstStyle>
          <a:p>
            <a:pPr>
              <a:buNone/>
              <a:defRPr sz="1650" b="1">
                <a:solidFill>
                  <a:srgbClr val="1D6A96"/>
                </a:solidFill>
              </a:defRPr>
            </a:pPr>
            <a:r>
              <a:rPr sz="1650" b="1">
                <a:solidFill>
                  <a:srgbClr val="1D6A96"/>
                </a:solidFill>
              </a:rPr>
              <a:t>← ramas feat/documentacion · feat/cypress · feat/casos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DBC0A03-E897-4CE5-85C7-FA84834AA54D}"/>
              </a:ext>
            </a:extLst>
          </p:cNvPr>
          <p:cNvSpPr>
            <a:spLocks noGrp="1"/>
          </p:cNvSpPr>
          <p:nvPr/>
        </p:nvSpPr>
        <p:spPr>
          <a:xfrm>
            <a:off x="1143000" y="3381375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1">
                <a:solidFill>
                  <a:srgbClr val="12304A"/>
                </a:solidFill>
              </a:defRPr>
            </a:defPPr>
          </a:lstStyle>
          <a:p>
            <a:pPr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Wendy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4D0D671-DA4F-4EB2-AA2E-B91887338558}"/>
              </a:ext>
            </a:extLst>
          </p:cNvPr>
          <p:cNvSpPr>
            <a:spLocks noGrp="1"/>
          </p:cNvSpPr>
          <p:nvPr/>
        </p:nvSpPr>
        <p:spPr>
          <a:xfrm>
            <a:off x="3810000" y="3381375"/>
            <a:ext cx="476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0">
                <a:solidFill>
                  <a:srgbClr val="172B3A"/>
                </a:solidFill>
              </a:defRPr>
            </a:defPPr>
          </a:lstStyle>
          <a:p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Plan y casos de administración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57346D-B0EC-4EC9-BEA3-CE4F217E3301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1">
                <a:solidFill>
                  <a:srgbClr val="12304A"/>
                </a:solidFill>
              </a:defRPr>
            </a:defPPr>
          </a:lstStyle>
          <a:p>
            <a:pPr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Natalia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6C55CB9-251E-43B3-B75C-01DAF5354A22}"/>
              </a:ext>
            </a:extLst>
          </p:cNvPr>
          <p:cNvSpPr>
            <a:spLocks noGrp="1"/>
          </p:cNvSpPr>
          <p:nvPr/>
        </p:nvSpPr>
        <p:spPr>
          <a:xfrm>
            <a:off x="3810000" y="3905250"/>
            <a:ext cx="476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0">
                <a:solidFill>
                  <a:srgbClr val="172B3A"/>
                </a:solidFill>
              </a:defRPr>
            </a:defPPr>
          </a:lstStyle>
          <a:p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Historias y casos de paciente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9CD7890-124C-436F-91B1-E8D5872542B5}"/>
              </a:ext>
            </a:extLst>
          </p:cNvPr>
          <p:cNvSpPr>
            <a:spLocks noGrp="1"/>
          </p:cNvSpPr>
          <p:nvPr/>
        </p:nvSpPr>
        <p:spPr>
          <a:xfrm>
            <a:off x="1143000" y="4429125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1">
                <a:solidFill>
                  <a:srgbClr val="12304A"/>
                </a:solidFill>
              </a:defRPr>
            </a:defPPr>
          </a:lstStyle>
          <a:p>
            <a:pPr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Alex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CBC4E22-388B-4103-AB47-EF13702A617E}"/>
              </a:ext>
            </a:extLst>
          </p:cNvPr>
          <p:cNvSpPr>
            <a:spLocks noGrp="1"/>
          </p:cNvSpPr>
          <p:nvPr/>
        </p:nvSpPr>
        <p:spPr>
          <a:xfrm>
            <a:off x="3810000" y="4429125"/>
            <a:ext cx="476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0">
                <a:solidFill>
                  <a:srgbClr val="172B3A"/>
                </a:solidFill>
              </a:defRPr>
            </a:defPPr>
          </a:lstStyle>
          <a:p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Casos de doctor y exposición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D6726A5-37FD-455B-92D7-A5AE34E033DD}"/>
              </a:ext>
            </a:extLst>
          </p:cNvPr>
          <p:cNvSpPr>
            <a:spLocks noGrp="1"/>
          </p:cNvSpPr>
          <p:nvPr/>
        </p:nvSpPr>
        <p:spPr>
          <a:xfrm>
            <a:off x="1143000" y="4953000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1">
                <a:solidFill>
                  <a:srgbClr val="12304A"/>
                </a:solidFill>
              </a:defRPr>
            </a:defPPr>
          </a:lstStyle>
          <a:p>
            <a:pPr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Noemy · SM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6EF3147-2132-4703-BA6D-03F9D2B5F29F}"/>
              </a:ext>
            </a:extLst>
          </p:cNvPr>
          <p:cNvSpPr>
            <a:spLocks noGrp="1"/>
          </p:cNvSpPr>
          <p:nvPr/>
        </p:nvSpPr>
        <p:spPr>
          <a:xfrm>
            <a:off x="3810000" y="4953000"/>
            <a:ext cx="476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0">
                <a:solidFill>
                  <a:srgbClr val="172B3A"/>
                </a:solidFill>
              </a:defRPr>
            </a:defPPr>
          </a:lstStyle>
          <a:p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Scrum Master · facilita reuniones y acuerdos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D8DC425-147C-4B17-B6F7-6648D71A3BC7}"/>
              </a:ext>
            </a:extLst>
          </p:cNvPr>
          <p:cNvSpPr>
            <a:spLocks noGrp="1"/>
          </p:cNvSpPr>
          <p:nvPr/>
        </p:nvSpPr>
        <p:spPr>
          <a:xfrm>
            <a:off x="1143000" y="5619750"/>
            <a:ext cx="952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1">
                <a:solidFill>
                  <a:srgbClr val="1D6A96"/>
                </a:solidFill>
              </a:defRPr>
            </a:defPPr>
          </a:lstStyle>
          <a:p>
            <a:pPr>
              <a:buNone/>
              <a:defRPr sz="1425" b="1">
                <a:solidFill>
                  <a:srgbClr val="1D6A96"/>
                </a:solidFill>
              </a:defRPr>
            </a:pPr>
            <a:r>
              <a:rPr sz="1425" b="1">
                <a:solidFill>
                  <a:srgbClr val="1D6A96"/>
                </a:solidFill>
              </a:rPr>
              <a:t>Issues SQA-01–10 · tablero público → Pull Request → revisión → main</a:t>
            </a:r>
          </a:p>
        </p:txBody>
      </p:sp>
    </p:spTree>
    <p:extLst>
      <p:ext uri="{BB962C8B-B14F-4D97-AF65-F5344CB8AC3E}">
        <p14:creationId xmlns:p14="http://schemas.microsoft.com/office/powerpoint/2010/main" val="14482686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Office PowerPoint</Application>
  <DocSecurity>0</DocSecurity>
  <PresentationFormat>Panorámica</PresentationFormat>
  <Paragraphs>57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Aptos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Noemy Molina Garron</cp:lastModifiedBy>
  <cp:revision>1</cp:revision>
  <dcterms:created xsi:type="dcterms:W3CDTF">2026-10-15T02:06:46Z</dcterms:created>
  <dcterms:modified xsi:type="dcterms:W3CDTF">2026-10-15T03:47:23Z</dcterms:modified>
</cp:coreProperties>
</file>